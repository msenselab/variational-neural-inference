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a:t>
            </a:r>
          </a:p>
          <a:p/>
          <a:p>
            <a:r>
              <a:t>Today I will build one continuous story from the basic language of probability to modern latent dynamical models. The goal is not to catalogue algorithms. The goal is to understand which modeling assumption is added at each step, which posterior quantity must be computed, and what scientific interpretation becomes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a:t>
            </a:r>
          </a:p>
          <a:p/>
          <a:p>
            <a:r>
              <a:t>Neural data are observations, not explanations. Latent-variable models insert an explicit hidden layer between measurement and interpretation. Every model in this talk differs in the structure assigned to that hidden layer and in the method used to infer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a:t>
            </a:r>
          </a:p>
          <a:p/>
          <a:p>
            <a:r>
              <a:t>The progression is cumulative. Probability gives us uncertainty. Mixtures introduce hidden assignments. HMMs connect those assignments through time. VAEs replace per-datapoint optimization with a learned inference network. LFADS equips the latent state with recurrent dynamics. gpSLDS then trades some neural-network flexibility for local dynamical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I will start from the smallest set of ideas needed for every later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a:t>
            </a:r>
          </a:p>
          <a:p/>
          <a:p>
            <a:r>
              <a:t>A probabilistic model says how data could have been generated. Observed variables are what the experiment records. Latent variables are explanatory quantities that are not directly measured. Parameters define the strength and shape of the relationships. This distinction prevents us from treating a low-dimensional visualization as if it were automatically a generative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a:t>
            </a:r>
          </a:p>
          <a:p/>
          <a:p>
            <a:r>
              <a:t>Bayes' rule is the central computational operation in latent-variable modeling. The numerator combines the likelihood and prior. The denominator, the marginal likelihood or evidence, sums or integrates over all latent explanations. In simple models this is analytic. In modern models it is usually the source of intractability.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a:t>
            </a:r>
          </a:p>
          <a:p/>
          <a:p>
            <a:r>
              <a:t>It is useful to separate three operations. Inference estimates hidden states for fixed parameters. Learning estimates parameters from data, usually by repeatedly invoking inference. Prediction applies the fitted model to unseen or future observations. Many apparent disagreements between algorithms disappear once we ask which of these operations they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1:50</a:t>
            </a:r>
          </a:p>
          <a:p/>
          <a:p>
            <a:r>
              <a:t>A gradient is a local sensitivity. It tells us how much the objective would change under a small parameter change. Gradient descent moves in the negative-gradient direction. Backpropagation is not a separate learning principle; it is an efficient application of the chain rule. Automatic differentiation records the computation and evaluates those derivatives exactly up to numerical precision.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1:25</a:t>
            </a:r>
          </a:p>
          <a:p/>
          <a:p>
            <a:r>
              <a:t>Better optimization cannot rescue a poorly specified scientific model. We still need to choose an objective, a parameterization, and a validation strategy. Latent models also face identifiability: labels may permute, latent axes may rotate, and multiple parameter settings may induce the same observations. Interpretation therefore requires constraints and validation beyond training loss.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Mixture models are the smallest setting where uncertainty over a hidden assignment affects parameter learning.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a:t>
            </a:r>
          </a:p>
          <a:p/>
          <a:p>
            <a:r>
              <a:t>A Gaussian mixture assumes that each observation came from one of K components. The latent variable z is discrete. The mixture weights describe component prevalence; each component has a mean and covariance. The marginal density is a weighted sum because the generating component is unobserved.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a:t>
            </a:r>
          </a:p>
          <a:p/>
          <a:p>
            <a:r>
              <a:t>If assignments were known, fitting each Gaussian would be easy. If parameters were known, computing assignment probabilities would also be easy. EM exploits this conditional simplicity. The E-step computes soft assignments. The M-step treats those responsibilities as fractional counts. The process monotonically improves or preserves the observed-data likelihood, although it can converge to a local optimum.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A hard clustering algorithm collapses uncertainty immediately. EM keeps a probability for every component. Points near overlapping regions receive mixed colors and lower confidence. This uncertainty is not cosmetic; it determines how strongly each observation contributes to each component's sufficient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a:t>
            </a:r>
          </a:p>
          <a:p/>
          <a:p>
            <a:r>
              <a:t>The ELBO identity is the bridge from EM to variational inference. The log evidence equals a lower bound plus a nonnegative KL divergence. In ordinary EM, the E-step can set q equal to the exact posterior, making the gap zero. The M-step then optimizes the bound with respect to parameters. Variational inference keeps the same logic when the exact posterior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1:25</a:t>
            </a:r>
          </a:p>
          <a:p/>
          <a:p>
            <a:r>
              <a:t>The scientific output of a mixture model is more than a colored partition. It is a probability density with component frequencies, centers, and uncertainty geometry. The likelihood trace is a basic implementation check, but held-out density and stability across initializations are stronger validation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a:t>
            </a:r>
          </a:p>
          <a:p/>
          <a:p>
            <a:r>
              <a:t>Mixture observations are exchangeable. The model sees component counts but not order. Two sequences with the same histogram are equivalent. Neural and behavioral data contain persistence, switching, and temporal prediction. The minimal extension is to connect consecutive latent assignments with a Markov transition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An HMM changes one assumption: the hidden assignment now depends on the previous hidden state.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The hidden state follows a first-order Markov chain: the next state depends on the current state, not the entire past. Each observation depends only on its current state. These conditional-independence assumptions are strong, but they enable exact dynamic programming rather than summing over K to the T possible state sequences.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a:t>
            </a:r>
          </a:p>
          <a:p/>
          <a:p>
            <a:r>
              <a:t>The forward message summarizes all evidence up to time t. The backward message summarizes evidence after time t. Their product gives the smoothed marginal posterior for each state. This is exact under the HMM assumptions and costs order T K squared, rather than enumerating exponentially many state paths. Scaling or log-space calculations are necessary for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a:t>
            </a:r>
          </a:p>
          <a:p/>
          <a:p>
            <a:r>
              <a:t>Filtering is the online posterior and is appropriate for real-time decoding. Smoothing is an offline posterior and can revise ambiguous moments using future observations. The distinction matters experimentally: an offline state estimate should not be reported as if it were available causally at that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a:t>
            </a:r>
          </a:p>
          <a:p/>
          <a:p>
            <a:r>
              <a:t>HMM inference does not have one universal output. Marginals quantify uncertainty at each time. Viterbi decoding gives the single most probable joint sequence, which is not the same as choosing the most probable state independently at every time. Posterior path samples preserve sequence-level uncertainty and are often more honest for downstream analyses.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Baum-Welch repeats exact HMM inference and parameter updates. The E-step computes smoothed state probabilities and pairwise transition marginals. The M-step updates the initial distribution, transition matrix, and emission parameters. As with mixture EM, labels may permute and local optima remain possible, so recovery is judged after label alignment and across initializations.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A state label means only what the emission and transition assumptions make it mean. In a Gaussian HMM, states represent recurring observation distributions. In an AR-HMM, each state defines local autoregressive dynamics. In an SLDS, a discrete switch selects continuous linear dynamics. This hierarchy is useful, but increasing expressiveness also weakens identifiability and raises computational cost.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Exact inference breaks when the decoder becomes nonlinear. Variational inference replaces the intractable posterior with an optimized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Variational inference chooses a tractable family q and minimizes its KL divergence to the posterior indirectly by maximizing the ELBO. The approximation can be factorized, Gaussian, sequential, or represented by a neural network. A high ELBO does not prove that q captures every posterior dependency; it is an optimization target and a lower bound, not an automatic certificate of scientific validity.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a:t>
            </a:r>
          </a:p>
          <a:p/>
          <a:p>
            <a:r>
              <a:t>Classical variational methods optimize local variational parameters separately for every observation. A VAE amortizes that work: an encoder predicts the variational parameters from x. This enables fast inference and generalization to new data, but the shared encoder may fail to reach the best variational parameters for every datapoint, creating an amortization gap.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1:50</a:t>
            </a:r>
          </a:p>
          <a:p/>
          <a:p>
            <a:r>
              <a:t>The first ELBO term rewards reconstructions under latent samples from the encoder. The KL term regularizes the approximate posterior toward the prior. Too little regularization gives an unstructured code; too much can make the decoder ignore z, known as posterior collapse. This is especially important with powerful sequential decoders.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a:t>
            </a:r>
          </a:p>
          <a:p/>
          <a:p>
            <a:r>
              <a:t>The decoder is the generative model: latent z generates observations. The encoder is an auxiliary inference model: it maps each observation to a distribution over z. Keeping these roles separate clarifies why a VAE is not simply an autoencoder with noise. The probabilistic objective and latent prior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Direct sampling appears to interrupt the computation graph. Reparameterization writes a Gaussian sample as a deterministic function of encoder outputs and parameter-free noise. Gradients then flow through mu and sigma. This produces a low-variance pathwise gradient estimator and makes end-to-end VAE training practical.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A clean latent visualization is suggestive, not sufficient. We should test held-out likelihood or reconstruction, stability across seeds, sensitivity to latent dimension and prior, and correspondence with external variables that were not used to train the model. Latent axes can rotate or permute without changing the observation model.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LFADS extends the VAE from independent observations to entire spike-train sequences generated by a recurrent dynamical system.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a:t>
            </a:r>
          </a:p>
          <a:p/>
          <a:p>
            <a:r>
              <a:t>LFADS treats a trial as a sequence generated by a dynamical system. The encoder summarizes the observed spikes and infers an initial condition. A recurrent generator evolves that state. A low-dimensional factor readout drives nonnegative firing rates, and spikes are modeled with a Poisson likelihood. More complete variants also infer time-varying inputs.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1:50</a:t>
            </a:r>
          </a:p>
          <a:p/>
          <a:p>
            <a:r>
              <a:t>The LFADS objective is a sequential ELBO. The likelihood evaluates whether inferred rates explain spike counts. KL terms constrain trial-specific initial states and, when present, inferred controller inputs. Inputs are powerful but scientifically delicate: they may represent real unobserved perturbations, or they may compensate for inadequate autonomous dynamics. Their interpretation requires perturbation timing and held-out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a:t>
            </a:r>
          </a:p>
          <a:p/>
          <a:p>
            <a:r>
              <a:t>For synthetic data, we can compare the learned vector field with the known system. For real data, we instead rely on held-out spike prediction, consistency across trials, perturbation responses, and dynamical invariants. Reconstruction alone can be achieved by a flexible encoder-decoder without recovering the correct autonomous dynamics.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a:t>
            </a:r>
          </a:p>
          <a:p/>
          <a:p>
            <a:r>
              <a:t>The final model retains nonlinear flexibility while exposing local linear dynamics and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1:55</a:t>
            </a:r>
          </a:p>
          <a:p/>
          <a:p>
            <a:r>
              <a:t>A Gaussian-process switching linear dynamical system places a GP prior on the vector field. Local linear regimes define interpretable dynamical templates, while smooth gating functions blend them. Inducing points make GP inference scalable. The result is a nonlinear field with uncertainty and a local linear decomposition.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1:40</a:t>
            </a:r>
          </a:p>
          <a:p/>
          <a:p>
            <a:r>
              <a:t>The key scientific advantage is inspectability. At each location we can examine regime weights, local linear operators, fixed points, and uncertainty in the vector field. However, this interpretation still depends on the latent observation model and identifiability constraints. A smooth partition is not automatically a biological module.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a:t>
            </a:r>
          </a:p>
          <a:p/>
          <a:p>
            <a:r>
              <a:t>Model choice should follow the scientific question, not a hierarchy of sophistication. Use a mixture when temporal order is irrelevant. Use an HMM for discrete recurring regimes. Use a VAE for nonlinear continuous representations. Use LFADS when trial-level recurrent dynamics are central. Use gpSLDS when nonlinear flow and local dynamical interpretation are both required. More flexible models demand stronger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Validation should proceed in layers. First verify the implementation using synthetic data and mathematical invariants. Then test predictive generalization. Next test robustness across seeds and modeling choices. Finally ask whether latent variables correspond to external measurements or produce falsifiable perturbation predictions. A compelling visualization without these layers is exploratory evidence, not a mechanistic result.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1:35</a:t>
            </a:r>
          </a:p>
          <a:p/>
          <a:p>
            <a:r>
              <a:t>The unifying idea is that a generative model makes assumptions explicit, and inference connects those assumptions to observations. EM, HMM inference, VAEs, and sequential latent models are not isolated tricks; they are increasingly expressive solutions to the same posterior-learning problem. The value of the latent state comes from what the model constrains and what independent evidence validates.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13232"/>
            <a:ext cx="2743200" cy="274320"/>
          </a:xfrm>
          <a:prstGeom prst="rect">
            <a:avLst/>
          </a:prstGeom>
          <a:noFill/>
        </p:spPr>
        <p:txBody>
          <a:bodyPr wrap="none" lIns="27432" rIns="27432" tIns="18288" bIns="18288" anchor="t">
            <a:spAutoFit/>
          </a:bodyPr>
          <a:lstStyle/>
          <a:p>
            <a:pPr algn="l">
              <a:defRPr sz="1100" b="1">
                <a:solidFill>
                  <a:srgbClr val="EBBB44"/>
                </a:solidFill>
                <a:latin typeface="Aptos"/>
              </a:defRPr>
            </a:pPr>
            <a:r>
              <a:t>GROUP SEMINAR</a:t>
            </a:r>
          </a:p>
        </p:txBody>
      </p:sp>
      <p:sp>
        <p:nvSpPr>
          <p:cNvPr id="4" name="TextBox 3"/>
          <p:cNvSpPr txBox="1"/>
          <p:nvPr/>
        </p:nvSpPr>
        <p:spPr>
          <a:xfrm>
            <a:off x="777240" y="1325880"/>
            <a:ext cx="10515600" cy="1508760"/>
          </a:xfrm>
          <a:prstGeom prst="rect">
            <a:avLst/>
          </a:prstGeom>
          <a:noFill/>
        </p:spPr>
        <p:txBody>
          <a:bodyPr wrap="none" lIns="27432" rIns="27432" tIns="18288" bIns="18288" anchor="t">
            <a:spAutoFit/>
          </a:bodyPr>
          <a:lstStyle/>
          <a:p>
            <a:pPr algn="l">
              <a:defRPr sz="3800" b="1">
                <a:solidFill>
                  <a:srgbClr val="FFFFFF"/>
                </a:solidFill>
                <a:latin typeface="Aptos"/>
              </a:defRPr>
            </a:pPr>
            <a:r>
              <a:t>Variational Neural Inference</a:t>
            </a:r>
          </a:p>
        </p:txBody>
      </p:sp>
      <p:sp>
        <p:nvSpPr>
          <p:cNvPr id="5" name="TextBox 4"/>
          <p:cNvSpPr txBox="1"/>
          <p:nvPr/>
        </p:nvSpPr>
        <p:spPr>
          <a:xfrm>
            <a:off x="804672" y="3136392"/>
            <a:ext cx="9875520" cy="594360"/>
          </a:xfrm>
          <a:prstGeom prst="rect">
            <a:avLst/>
          </a:prstGeom>
          <a:noFill/>
        </p:spPr>
        <p:txBody>
          <a:bodyPr wrap="none" lIns="27432" rIns="27432" tIns="18288" bIns="18288" anchor="t">
            <a:spAutoFit/>
          </a:bodyPr>
          <a:lstStyle/>
          <a:p>
            <a:pPr algn="l">
              <a:defRPr sz="2000" b="0">
                <a:solidFill>
                  <a:srgbClr val="C9D5D6"/>
                </a:solidFill>
                <a:latin typeface="Aptos"/>
              </a:defRPr>
            </a:pPr>
            <a:r>
              <a:t>From probability and gradients to interpretable neural dynamics</a:t>
            </a:r>
          </a:p>
        </p:txBody>
      </p:sp>
      <p:sp>
        <p:nvSpPr>
          <p:cNvPr id="6" name="Oval 5"/>
          <p:cNvSpPr/>
          <p:nvPr/>
        </p:nvSpPr>
        <p:spPr>
          <a:xfrm>
            <a:off x="1005840" y="4800600"/>
            <a:ext cx="1051560" cy="1051560"/>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5971032"/>
            <a:ext cx="1325880" cy="228600"/>
          </a:xfrm>
          <a:prstGeom prst="rect">
            <a:avLst/>
          </a:prstGeom>
          <a:noFill/>
        </p:spPr>
        <p:txBody>
          <a:bodyPr wrap="none" lIns="27432" rIns="27432" tIns="18288" bIns="18288" anchor="t">
            <a:spAutoFit/>
          </a:bodyPr>
          <a:lstStyle/>
          <a:p>
            <a:pPr algn="ctr">
              <a:defRPr sz="1000" b="1">
                <a:solidFill>
                  <a:srgbClr val="FFFFFF"/>
                </a:solidFill>
                <a:latin typeface="Aptos"/>
              </a:defRPr>
            </a:pPr>
            <a:r>
              <a:t>latent z</a:t>
            </a:r>
          </a:p>
        </p:txBody>
      </p:sp>
      <p:sp>
        <p:nvSpPr>
          <p:cNvPr id="8" name="TextBox 7"/>
          <p:cNvSpPr txBox="1"/>
          <p:nvPr/>
        </p:nvSpPr>
        <p:spPr>
          <a:xfrm>
            <a:off x="2240280" y="5084064"/>
            <a:ext cx="475488" cy="320040"/>
          </a:xfrm>
          <a:prstGeom prst="rect">
            <a:avLst/>
          </a:prstGeom>
          <a:noFill/>
        </p:spPr>
        <p:txBody>
          <a:bodyPr wrap="none" lIns="27432" rIns="27432" tIns="18288" bIns="18288" anchor="t">
            <a:spAutoFit/>
          </a:bodyPr>
          <a:lstStyle/>
          <a:p>
            <a:pPr algn="ctr">
              <a:defRPr sz="2100" b="1">
                <a:solidFill>
                  <a:srgbClr val="AAB8B9"/>
                </a:solidFill>
                <a:latin typeface="Aptos"/>
              </a:defRPr>
            </a:pPr>
            <a:r>
              <a:t>→</a:t>
            </a:r>
          </a:p>
        </p:txBody>
      </p:sp>
      <p:sp>
        <p:nvSpPr>
          <p:cNvPr id="9" name="Oval 8"/>
          <p:cNvSpPr/>
          <p:nvPr/>
        </p:nvSpPr>
        <p:spPr>
          <a:xfrm>
            <a:off x="2971800" y="4800600"/>
            <a:ext cx="1051560" cy="1051560"/>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5971032"/>
            <a:ext cx="1325880" cy="228600"/>
          </a:xfrm>
          <a:prstGeom prst="rect">
            <a:avLst/>
          </a:prstGeom>
          <a:noFill/>
        </p:spPr>
        <p:txBody>
          <a:bodyPr wrap="none" lIns="27432" rIns="27432" tIns="18288" bIns="18288" anchor="t">
            <a:spAutoFit/>
          </a:bodyPr>
          <a:lstStyle/>
          <a:p>
            <a:pPr algn="ctr">
              <a:defRPr sz="1000" b="1">
                <a:solidFill>
                  <a:srgbClr val="FFFFFF"/>
                </a:solidFill>
                <a:latin typeface="Aptos"/>
              </a:defRPr>
            </a:pPr>
            <a:r>
              <a:t>EM</a:t>
            </a:r>
          </a:p>
        </p:txBody>
      </p:sp>
      <p:sp>
        <p:nvSpPr>
          <p:cNvPr id="11" name="TextBox 10"/>
          <p:cNvSpPr txBox="1"/>
          <p:nvPr/>
        </p:nvSpPr>
        <p:spPr>
          <a:xfrm>
            <a:off x="4206240" y="5084064"/>
            <a:ext cx="475488" cy="320040"/>
          </a:xfrm>
          <a:prstGeom prst="rect">
            <a:avLst/>
          </a:prstGeom>
          <a:noFill/>
        </p:spPr>
        <p:txBody>
          <a:bodyPr wrap="none" lIns="27432" rIns="27432" tIns="18288" bIns="18288" anchor="t">
            <a:spAutoFit/>
          </a:bodyPr>
          <a:lstStyle/>
          <a:p>
            <a:pPr algn="ctr">
              <a:defRPr sz="2100" b="1">
                <a:solidFill>
                  <a:srgbClr val="AAB8B9"/>
                </a:solidFill>
                <a:latin typeface="Aptos"/>
              </a:defRPr>
            </a:pPr>
            <a:r>
              <a:t>→</a:t>
            </a:r>
          </a:p>
        </p:txBody>
      </p:sp>
      <p:sp>
        <p:nvSpPr>
          <p:cNvPr id="12" name="Oval 11"/>
          <p:cNvSpPr/>
          <p:nvPr/>
        </p:nvSpPr>
        <p:spPr>
          <a:xfrm>
            <a:off x="4937760" y="4800600"/>
            <a:ext cx="1051560" cy="1051560"/>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5971032"/>
            <a:ext cx="1325880" cy="228600"/>
          </a:xfrm>
          <a:prstGeom prst="rect">
            <a:avLst/>
          </a:prstGeom>
          <a:noFill/>
        </p:spPr>
        <p:txBody>
          <a:bodyPr wrap="none" lIns="27432" rIns="27432" tIns="18288" bIns="18288" anchor="t">
            <a:spAutoFit/>
          </a:bodyPr>
          <a:lstStyle/>
          <a:p>
            <a:pPr algn="ctr">
              <a:defRPr sz="1000" b="1">
                <a:solidFill>
                  <a:srgbClr val="FFFFFF"/>
                </a:solidFill>
                <a:latin typeface="Aptos"/>
              </a:defRPr>
            </a:pPr>
            <a:r>
              <a:t>HMM</a:t>
            </a:r>
          </a:p>
        </p:txBody>
      </p:sp>
      <p:sp>
        <p:nvSpPr>
          <p:cNvPr id="14" name="TextBox 13"/>
          <p:cNvSpPr txBox="1"/>
          <p:nvPr/>
        </p:nvSpPr>
        <p:spPr>
          <a:xfrm>
            <a:off x="6172200" y="5084064"/>
            <a:ext cx="475488" cy="320040"/>
          </a:xfrm>
          <a:prstGeom prst="rect">
            <a:avLst/>
          </a:prstGeom>
          <a:noFill/>
        </p:spPr>
        <p:txBody>
          <a:bodyPr wrap="none" lIns="27432" rIns="27432" tIns="18288" bIns="18288" anchor="t">
            <a:spAutoFit/>
          </a:bodyPr>
          <a:lstStyle/>
          <a:p>
            <a:pPr algn="ctr">
              <a:defRPr sz="2100" b="1">
                <a:solidFill>
                  <a:srgbClr val="AAB8B9"/>
                </a:solidFill>
                <a:latin typeface="Aptos"/>
              </a:defRPr>
            </a:pPr>
            <a:r>
              <a:t>→</a:t>
            </a:r>
          </a:p>
        </p:txBody>
      </p:sp>
      <p:sp>
        <p:nvSpPr>
          <p:cNvPr id="15" name="Oval 14"/>
          <p:cNvSpPr/>
          <p:nvPr/>
        </p:nvSpPr>
        <p:spPr>
          <a:xfrm>
            <a:off x="6903720" y="4800600"/>
            <a:ext cx="1051560" cy="1051560"/>
          </a:xfrm>
          <a:prstGeom prst="ellipse">
            <a:avLst/>
          </a:prstGeom>
          <a:solidFill>
            <a:srgbClr val="EBBB44"/>
          </a:solidFill>
          <a:ln>
            <a:solidFill>
              <a:srgbClr val="EB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75704" y="5971032"/>
            <a:ext cx="1325880" cy="228600"/>
          </a:xfrm>
          <a:prstGeom prst="rect">
            <a:avLst/>
          </a:prstGeom>
          <a:noFill/>
        </p:spPr>
        <p:txBody>
          <a:bodyPr wrap="none" lIns="27432" rIns="27432" tIns="18288" bIns="18288" anchor="t">
            <a:spAutoFit/>
          </a:bodyPr>
          <a:lstStyle/>
          <a:p>
            <a:pPr algn="ctr">
              <a:defRPr sz="1000" b="1">
                <a:solidFill>
                  <a:srgbClr val="FFFFFF"/>
                </a:solidFill>
                <a:latin typeface="Aptos"/>
              </a:defRPr>
            </a:pPr>
            <a:r>
              <a:t>VAE / LFADS</a:t>
            </a:r>
          </a:p>
        </p:txBody>
      </p:sp>
      <p:sp>
        <p:nvSpPr>
          <p:cNvPr id="17" name="TextBox 16"/>
          <p:cNvSpPr txBox="1"/>
          <p:nvPr/>
        </p:nvSpPr>
        <p:spPr>
          <a:xfrm>
            <a:off x="8138160" y="5084064"/>
            <a:ext cx="475488" cy="320040"/>
          </a:xfrm>
          <a:prstGeom prst="rect">
            <a:avLst/>
          </a:prstGeom>
          <a:noFill/>
        </p:spPr>
        <p:txBody>
          <a:bodyPr wrap="none" lIns="27432" rIns="27432" tIns="18288" bIns="18288" anchor="t">
            <a:spAutoFit/>
          </a:bodyPr>
          <a:lstStyle/>
          <a:p>
            <a:pPr algn="ctr">
              <a:defRPr sz="2100" b="1">
                <a:solidFill>
                  <a:srgbClr val="AAB8B9"/>
                </a:solidFill>
                <a:latin typeface="Aptos"/>
              </a:defRPr>
            </a:pPr>
            <a:r>
              <a:t>→</a:t>
            </a:r>
          </a:p>
        </p:txBody>
      </p:sp>
      <p:sp>
        <p:nvSpPr>
          <p:cNvPr id="18" name="Oval 17"/>
          <p:cNvSpPr/>
          <p:nvPr/>
        </p:nvSpPr>
        <p:spPr>
          <a:xfrm>
            <a:off x="8869680" y="4800600"/>
            <a:ext cx="1051560" cy="1051560"/>
          </a:xfrm>
          <a:prstGeom prst="ellipse">
            <a:avLst/>
          </a:prstGeom>
          <a:solidFill>
            <a:srgbClr val="BC585F"/>
          </a:solidFill>
          <a:ln>
            <a:solidFill>
              <a:srgbClr val="BC5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1663" y="5971032"/>
            <a:ext cx="1325880" cy="228600"/>
          </a:xfrm>
          <a:prstGeom prst="rect">
            <a:avLst/>
          </a:prstGeom>
          <a:noFill/>
        </p:spPr>
        <p:txBody>
          <a:bodyPr wrap="none" lIns="27432" rIns="27432" tIns="18288" bIns="18288" anchor="t">
            <a:spAutoFit/>
          </a:bodyPr>
          <a:lstStyle/>
          <a:p>
            <a:pPr algn="ctr">
              <a:defRPr sz="1000" b="1">
                <a:solidFill>
                  <a:srgbClr val="FFFFFF"/>
                </a:solidFill>
                <a:latin typeface="Aptos"/>
              </a:defRPr>
            </a:pPr>
            <a:r>
              <a:t>gpSLDS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One question connects the entire talk</a:t>
            </a:r>
          </a:p>
        </p:txBody>
      </p:sp>
      <p:sp>
        <p:nvSpPr>
          <p:cNvPr id="3" name="TextBox 2"/>
          <p:cNvSpPr txBox="1"/>
          <p:nvPr/>
        </p:nvSpPr>
        <p:spPr>
          <a:xfrm>
            <a:off x="914400" y="1389888"/>
            <a:ext cx="10332720" cy="1143000"/>
          </a:xfrm>
          <a:prstGeom prst="rect">
            <a:avLst/>
          </a:prstGeom>
          <a:noFill/>
        </p:spPr>
        <p:txBody>
          <a:bodyPr wrap="none" lIns="27432" rIns="27432" tIns="18288" bIns="18288" anchor="t">
            <a:spAutoFit/>
          </a:bodyPr>
          <a:lstStyle/>
          <a:p>
            <a:pPr algn="ctr">
              <a:defRPr sz="2500" b="1">
                <a:solidFill>
                  <a:srgbClr val="1F2A2E"/>
                </a:solidFill>
                <a:latin typeface="Aptos"/>
              </a:defRPr>
            </a:pPr>
            <a:r>
              <a:t>How can noisy, high-dimensional observations</a:t>
            </a:r>
            <a:br/>
            <a:r>
              <a:t>reveal hidden neural computation?</a:t>
            </a:r>
          </a:p>
        </p:txBody>
      </p:sp>
      <p:sp>
        <p:nvSpPr>
          <p:cNvPr id="4" name="Rounded Rectangle 3"/>
          <p:cNvSpPr/>
          <p:nvPr/>
        </p:nvSpPr>
        <p:spPr>
          <a:xfrm>
            <a:off x="1051560" y="3200400"/>
            <a:ext cx="3063240" cy="141732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39" y="3502152"/>
            <a:ext cx="2697480" cy="329184"/>
          </a:xfrm>
          <a:prstGeom prst="rect">
            <a:avLst/>
          </a:prstGeom>
          <a:noFill/>
        </p:spPr>
        <p:txBody>
          <a:bodyPr wrap="none" lIns="27432" rIns="27432" tIns="18288" bIns="18288" anchor="t">
            <a:spAutoFit/>
          </a:bodyPr>
          <a:lstStyle/>
          <a:p>
            <a:pPr algn="ctr">
              <a:defRPr sz="1900" b="1">
                <a:solidFill>
                  <a:srgbClr val="32659C"/>
                </a:solidFill>
                <a:latin typeface="Aptos"/>
              </a:defRPr>
            </a:pPr>
            <a:r>
              <a:t>observations</a:t>
            </a:r>
          </a:p>
        </p:txBody>
      </p:sp>
      <p:sp>
        <p:nvSpPr>
          <p:cNvPr id="6" name="TextBox 5"/>
          <p:cNvSpPr txBox="1"/>
          <p:nvPr/>
        </p:nvSpPr>
        <p:spPr>
          <a:xfrm>
            <a:off x="1234439" y="4005072"/>
            <a:ext cx="2697480" cy="274320"/>
          </a:xfrm>
          <a:prstGeom prst="rect">
            <a:avLst/>
          </a:prstGeom>
          <a:noFill/>
        </p:spPr>
        <p:txBody>
          <a:bodyPr wrap="none" lIns="27432" rIns="27432" tIns="18288" bIns="18288" anchor="t">
            <a:spAutoFit/>
          </a:bodyPr>
          <a:lstStyle/>
          <a:p>
            <a:pPr algn="ctr">
              <a:defRPr sz="1300" b="0">
                <a:solidFill>
                  <a:srgbClr val="5F6D71"/>
                </a:solidFill>
                <a:latin typeface="Aptos"/>
              </a:defRPr>
            </a:pPr>
            <a:r>
              <a:t>spikes, behavior</a:t>
            </a:r>
          </a:p>
        </p:txBody>
      </p:sp>
      <p:sp>
        <p:nvSpPr>
          <p:cNvPr id="7" name="Rounded Rectangle 6"/>
          <p:cNvSpPr/>
          <p:nvPr/>
        </p:nvSpPr>
        <p:spPr>
          <a:xfrm>
            <a:off x="4526280" y="3200400"/>
            <a:ext cx="3063240" cy="141732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3502152"/>
            <a:ext cx="2697480" cy="329184"/>
          </a:xfrm>
          <a:prstGeom prst="rect">
            <a:avLst/>
          </a:prstGeom>
          <a:noFill/>
        </p:spPr>
        <p:txBody>
          <a:bodyPr wrap="none" lIns="27432" rIns="27432" tIns="18288" bIns="18288" anchor="t">
            <a:spAutoFit/>
          </a:bodyPr>
          <a:lstStyle/>
          <a:p>
            <a:pPr algn="ctr">
              <a:defRPr sz="1900" b="1">
                <a:solidFill>
                  <a:srgbClr val="00807A"/>
                </a:solidFill>
                <a:latin typeface="Aptos"/>
              </a:defRPr>
            </a:pPr>
            <a:r>
              <a:t>latent structure</a:t>
            </a:r>
          </a:p>
        </p:txBody>
      </p:sp>
      <p:sp>
        <p:nvSpPr>
          <p:cNvPr id="9" name="TextBox 8"/>
          <p:cNvSpPr txBox="1"/>
          <p:nvPr/>
        </p:nvSpPr>
        <p:spPr>
          <a:xfrm>
            <a:off x="4709160" y="4005072"/>
            <a:ext cx="2697480" cy="274320"/>
          </a:xfrm>
          <a:prstGeom prst="rect">
            <a:avLst/>
          </a:prstGeom>
          <a:noFill/>
        </p:spPr>
        <p:txBody>
          <a:bodyPr wrap="none" lIns="27432" rIns="27432" tIns="18288" bIns="18288" anchor="t">
            <a:spAutoFit/>
          </a:bodyPr>
          <a:lstStyle/>
          <a:p>
            <a:pPr algn="ctr">
              <a:defRPr sz="1300" b="0">
                <a:solidFill>
                  <a:srgbClr val="5F6D71"/>
                </a:solidFill>
                <a:latin typeface="Aptos"/>
              </a:defRPr>
            </a:pPr>
            <a:r>
              <a:t>states, factors, dynamics</a:t>
            </a:r>
          </a:p>
        </p:txBody>
      </p:sp>
      <p:sp>
        <p:nvSpPr>
          <p:cNvPr id="10" name="Rounded Rectangle 9"/>
          <p:cNvSpPr/>
          <p:nvPr/>
        </p:nvSpPr>
        <p:spPr>
          <a:xfrm>
            <a:off x="8001000" y="3200400"/>
            <a:ext cx="3063240" cy="141732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3502152"/>
            <a:ext cx="2697480" cy="329184"/>
          </a:xfrm>
          <a:prstGeom prst="rect">
            <a:avLst/>
          </a:prstGeom>
          <a:noFill/>
        </p:spPr>
        <p:txBody>
          <a:bodyPr wrap="none" lIns="27432" rIns="27432" tIns="18288" bIns="18288" anchor="t">
            <a:spAutoFit/>
          </a:bodyPr>
          <a:lstStyle/>
          <a:p>
            <a:pPr algn="ctr">
              <a:defRPr sz="1900" b="1">
                <a:solidFill>
                  <a:srgbClr val="E07A3B"/>
                </a:solidFill>
                <a:latin typeface="Aptos"/>
              </a:defRPr>
            </a:pPr>
            <a:r>
              <a:t>interpretation</a:t>
            </a:r>
          </a:p>
        </p:txBody>
      </p:sp>
      <p:sp>
        <p:nvSpPr>
          <p:cNvPr id="12" name="TextBox 11"/>
          <p:cNvSpPr txBox="1"/>
          <p:nvPr/>
        </p:nvSpPr>
        <p:spPr>
          <a:xfrm>
            <a:off x="8183879" y="4005072"/>
            <a:ext cx="2697480" cy="274320"/>
          </a:xfrm>
          <a:prstGeom prst="rect">
            <a:avLst/>
          </a:prstGeom>
          <a:noFill/>
        </p:spPr>
        <p:txBody>
          <a:bodyPr wrap="none" lIns="27432" rIns="27432" tIns="18288" bIns="18288" anchor="t">
            <a:spAutoFit/>
          </a:bodyPr>
          <a:lstStyle/>
          <a:p>
            <a:pPr algn="ctr">
              <a:defRPr sz="1300" b="0">
                <a:solidFill>
                  <a:srgbClr val="5F6D71"/>
                </a:solidFill>
                <a:latin typeface="Aptos"/>
              </a:defRPr>
            </a:pPr>
            <a:r>
              <a:t>mechanism, uncertainty</a:t>
            </a:r>
          </a:p>
        </p:txBody>
      </p:sp>
      <p:sp>
        <p:nvSpPr>
          <p:cNvPr id="13" name="TextBox 12"/>
          <p:cNvSpPr txBox="1"/>
          <p:nvPr/>
        </p:nvSpPr>
        <p:spPr>
          <a:xfrm>
            <a:off x="4142232" y="3703320"/>
            <a:ext cx="365760" cy="365760"/>
          </a:xfrm>
          <a:prstGeom prst="rect">
            <a:avLst/>
          </a:prstGeom>
          <a:noFill/>
        </p:spPr>
        <p:txBody>
          <a:bodyPr wrap="none" lIns="27432" rIns="27432" tIns="18288" bIns="18288" anchor="t">
            <a:spAutoFit/>
          </a:bodyPr>
          <a:lstStyle/>
          <a:p>
            <a:pPr algn="ctr">
              <a:defRPr sz="2500" b="1">
                <a:solidFill>
                  <a:srgbClr val="5F6D71"/>
                </a:solidFill>
                <a:latin typeface="Aptos"/>
              </a:defRPr>
            </a:pPr>
            <a:r>
              <a:t>→</a:t>
            </a:r>
          </a:p>
        </p:txBody>
      </p:sp>
      <p:sp>
        <p:nvSpPr>
          <p:cNvPr id="14" name="TextBox 13"/>
          <p:cNvSpPr txBox="1"/>
          <p:nvPr/>
        </p:nvSpPr>
        <p:spPr>
          <a:xfrm>
            <a:off x="7607808" y="3703320"/>
            <a:ext cx="365760" cy="365760"/>
          </a:xfrm>
          <a:prstGeom prst="rect">
            <a:avLst/>
          </a:prstGeom>
          <a:noFill/>
        </p:spPr>
        <p:txBody>
          <a:bodyPr wrap="none" lIns="27432" rIns="27432" tIns="18288" bIns="18288" anchor="t">
            <a:spAutoFit/>
          </a:bodyPr>
          <a:lstStyle/>
          <a:p>
            <a:pPr algn="ctr">
              <a:defRPr sz="2500" b="1">
                <a:solidFill>
                  <a:srgbClr val="5F6D71"/>
                </a:solidFill>
                <a:latin typeface="Aptos"/>
              </a:defRPr>
            </a:pPr>
            <a:r>
              <a:t>→</a:t>
            </a:r>
          </a:p>
        </p:txBody>
      </p:sp>
      <p:sp>
        <p:nvSpPr>
          <p:cNvPr id="15" name="TextBox 14"/>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Roadmap: each model adds one assumption</a:t>
            </a:r>
          </a:p>
        </p:txBody>
      </p:sp>
      <p:sp>
        <p:nvSpPr>
          <p:cNvPr id="3" name="Rectangle 2"/>
          <p:cNvSpPr/>
          <p:nvPr/>
        </p:nvSpPr>
        <p:spPr>
          <a:xfrm>
            <a:off x="1143000" y="1325880"/>
            <a:ext cx="164592" cy="512064"/>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307592"/>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Probability</a:t>
            </a:r>
          </a:p>
        </p:txBody>
      </p:sp>
      <p:sp>
        <p:nvSpPr>
          <p:cNvPr id="5" name="TextBox 4"/>
          <p:cNvSpPr txBox="1"/>
          <p:nvPr/>
        </p:nvSpPr>
        <p:spPr>
          <a:xfrm>
            <a:off x="3794760" y="1344168"/>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uncertainty</a:t>
            </a:r>
          </a:p>
        </p:txBody>
      </p:sp>
      <p:sp>
        <p:nvSpPr>
          <p:cNvPr id="6" name="Rectangle 5"/>
          <p:cNvSpPr/>
          <p:nvPr/>
        </p:nvSpPr>
        <p:spPr>
          <a:xfrm>
            <a:off x="1143000" y="2112264"/>
            <a:ext cx="164592" cy="512064"/>
          </a:xfrm>
          <a:prstGeom prst="rect">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093976"/>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Mixtures</a:t>
            </a:r>
          </a:p>
        </p:txBody>
      </p:sp>
      <p:sp>
        <p:nvSpPr>
          <p:cNvPr id="8" name="TextBox 7"/>
          <p:cNvSpPr txBox="1"/>
          <p:nvPr/>
        </p:nvSpPr>
        <p:spPr>
          <a:xfrm>
            <a:off x="3794760" y="2130552"/>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discrete latent classes</a:t>
            </a:r>
          </a:p>
        </p:txBody>
      </p:sp>
      <p:sp>
        <p:nvSpPr>
          <p:cNvPr id="9" name="Rectangle 8"/>
          <p:cNvSpPr/>
          <p:nvPr/>
        </p:nvSpPr>
        <p:spPr>
          <a:xfrm>
            <a:off x="1143000" y="2898648"/>
            <a:ext cx="164592" cy="512064"/>
          </a:xfrm>
          <a:prstGeom prst="rect">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2880360"/>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HMMs</a:t>
            </a:r>
          </a:p>
        </p:txBody>
      </p:sp>
      <p:sp>
        <p:nvSpPr>
          <p:cNvPr id="11" name="TextBox 10"/>
          <p:cNvSpPr txBox="1"/>
          <p:nvPr/>
        </p:nvSpPr>
        <p:spPr>
          <a:xfrm>
            <a:off x="3794760" y="2916936"/>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temporal dependence</a:t>
            </a:r>
          </a:p>
        </p:txBody>
      </p:sp>
      <p:sp>
        <p:nvSpPr>
          <p:cNvPr id="12" name="Rectangle 11"/>
          <p:cNvSpPr/>
          <p:nvPr/>
        </p:nvSpPr>
        <p:spPr>
          <a:xfrm>
            <a:off x="1143000" y="3685032"/>
            <a:ext cx="164592" cy="512064"/>
          </a:xfrm>
          <a:prstGeom prst="rect">
            <a:avLst/>
          </a:prstGeom>
          <a:solidFill>
            <a:srgbClr val="EBBB44"/>
          </a:solidFill>
          <a:ln>
            <a:solidFill>
              <a:srgbClr val="EB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3666744"/>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VAEs</a:t>
            </a:r>
          </a:p>
        </p:txBody>
      </p:sp>
      <p:sp>
        <p:nvSpPr>
          <p:cNvPr id="14" name="TextBox 13"/>
          <p:cNvSpPr txBox="1"/>
          <p:nvPr/>
        </p:nvSpPr>
        <p:spPr>
          <a:xfrm>
            <a:off x="3794760" y="3703320"/>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amortized nonlinear inference</a:t>
            </a:r>
          </a:p>
        </p:txBody>
      </p:sp>
      <p:sp>
        <p:nvSpPr>
          <p:cNvPr id="15" name="Rectangle 14"/>
          <p:cNvSpPr/>
          <p:nvPr/>
        </p:nvSpPr>
        <p:spPr>
          <a:xfrm>
            <a:off x="1143000" y="4471416"/>
            <a:ext cx="164592" cy="512064"/>
          </a:xfrm>
          <a:prstGeom prst="rect">
            <a:avLst/>
          </a:prstGeom>
          <a:solidFill>
            <a:srgbClr val="A05B8C"/>
          </a:solidFill>
          <a:ln>
            <a:solidFill>
              <a:srgbClr val="A05B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4453128"/>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LFADS</a:t>
            </a:r>
          </a:p>
        </p:txBody>
      </p:sp>
      <p:sp>
        <p:nvSpPr>
          <p:cNvPr id="17" name="TextBox 16"/>
          <p:cNvSpPr txBox="1"/>
          <p:nvPr/>
        </p:nvSpPr>
        <p:spPr>
          <a:xfrm>
            <a:off x="3794760" y="4489703"/>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recurrent neural dynamics</a:t>
            </a:r>
          </a:p>
        </p:txBody>
      </p:sp>
      <p:sp>
        <p:nvSpPr>
          <p:cNvPr id="18" name="Rectangle 17"/>
          <p:cNvSpPr/>
          <p:nvPr/>
        </p:nvSpPr>
        <p:spPr>
          <a:xfrm>
            <a:off x="1143000" y="5257800"/>
            <a:ext cx="164592" cy="512064"/>
          </a:xfrm>
          <a:prstGeom prst="rect">
            <a:avLst/>
          </a:prstGeom>
          <a:solidFill>
            <a:srgbClr val="BC585F"/>
          </a:solidFill>
          <a:ln>
            <a:solidFill>
              <a:srgbClr val="BC5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54480" y="5239512"/>
            <a:ext cx="2057400" cy="347472"/>
          </a:xfrm>
          <a:prstGeom prst="rect">
            <a:avLst/>
          </a:prstGeom>
          <a:noFill/>
        </p:spPr>
        <p:txBody>
          <a:bodyPr wrap="none" lIns="27432" rIns="27432" tIns="18288" bIns="18288" anchor="t">
            <a:spAutoFit/>
          </a:bodyPr>
          <a:lstStyle/>
          <a:p>
            <a:pPr algn="l">
              <a:defRPr sz="1800" b="1">
                <a:solidFill>
                  <a:srgbClr val="1F2A2E"/>
                </a:solidFill>
                <a:latin typeface="Aptos"/>
              </a:defRPr>
            </a:pPr>
            <a:r>
              <a:t>gpSLDS</a:t>
            </a:r>
          </a:p>
        </p:txBody>
      </p:sp>
      <p:sp>
        <p:nvSpPr>
          <p:cNvPr id="20" name="TextBox 19"/>
          <p:cNvSpPr txBox="1"/>
          <p:nvPr/>
        </p:nvSpPr>
        <p:spPr>
          <a:xfrm>
            <a:off x="3794760" y="5276088"/>
            <a:ext cx="5669280" cy="274320"/>
          </a:xfrm>
          <a:prstGeom prst="rect">
            <a:avLst/>
          </a:prstGeom>
          <a:noFill/>
        </p:spPr>
        <p:txBody>
          <a:bodyPr wrap="none" lIns="27432" rIns="27432" tIns="18288" bIns="18288" anchor="t">
            <a:spAutoFit/>
          </a:bodyPr>
          <a:lstStyle/>
          <a:p>
            <a:pPr algn="l">
              <a:defRPr sz="1600" b="0">
                <a:solidFill>
                  <a:srgbClr val="5F6D71"/>
                </a:solidFill>
                <a:latin typeface="Aptos"/>
              </a:defRPr>
            </a:pPr>
            <a:r>
              <a:t>interpretable nonlinear flow</a:t>
            </a:r>
          </a:p>
        </p:txBody>
      </p:sp>
      <p:sp>
        <p:nvSpPr>
          <p:cNvPr id="21" name="TextBox 20"/>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1</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Foundations</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Probability, latent variables, gradients, and learning</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1</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 probabilistic model is a data-generating hypothesis</a:t>
            </a:r>
          </a:p>
        </p:txBody>
      </p:sp>
      <p:sp>
        <p:nvSpPr>
          <p:cNvPr id="3" name="Rounded Rectangle 2"/>
          <p:cNvSpPr/>
          <p:nvPr/>
        </p:nvSpPr>
        <p:spPr>
          <a:xfrm>
            <a:off x="640080" y="1371600"/>
            <a:ext cx="5321808" cy="4526280"/>
          </a:xfrm>
          <a:prstGeom prst="roundRect">
            <a:avLst>
              <a:gd name="adj" fmla="val 8000"/>
            </a:avLst>
          </a:prstGeom>
          <a:solidFill>
            <a:srgbClr val="E0EAF4"/>
          </a:solidFill>
          <a:ln>
            <a:solidFill>
              <a:srgbClr val="E0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19" y="1719072"/>
            <a:ext cx="4663440" cy="384048"/>
          </a:xfrm>
          <a:prstGeom prst="rect">
            <a:avLst/>
          </a:prstGeom>
          <a:noFill/>
        </p:spPr>
        <p:txBody>
          <a:bodyPr wrap="none" lIns="27432" rIns="27432" tIns="18288" bIns="18288" anchor="t">
            <a:spAutoFit/>
          </a:bodyPr>
          <a:lstStyle/>
          <a:p>
            <a:pPr algn="l">
              <a:defRPr sz="1800" b="1">
                <a:solidFill>
                  <a:srgbClr val="1F2A2E"/>
                </a:solidFill>
                <a:latin typeface="Aptos"/>
              </a:defRPr>
            </a:pPr>
            <a:r>
              <a:t>Observed variables</a:t>
            </a:r>
          </a:p>
        </p:txBody>
      </p:sp>
      <p:sp>
        <p:nvSpPr>
          <p:cNvPr id="5" name="TextBox 4"/>
          <p:cNvSpPr txBox="1"/>
          <p:nvPr/>
        </p:nvSpPr>
        <p:spPr>
          <a:xfrm>
            <a:off x="969264" y="2359152"/>
            <a:ext cx="4572000" cy="3063240"/>
          </a:xfrm>
          <a:prstGeom prst="rect">
            <a:avLst/>
          </a:prstGeom>
          <a:noFill/>
        </p:spPr>
        <p:txBody>
          <a:bodyPr wrap="square" lIns="27432" rIns="27432">
            <a:spAutoFit/>
          </a:bodyPr>
          <a:lstStyle/>
          <a:p>
            <a:pPr>
              <a:spcAft>
                <a:spcPts val="1500"/>
              </a:spcAft>
              <a:defRPr sz="1800">
                <a:solidFill>
                  <a:srgbClr val="1F2A2E"/>
                </a:solidFill>
                <a:latin typeface="Aptos"/>
              </a:defRPr>
            </a:pPr>
            <a:r>
              <a:t>Measured directly</a:t>
            </a:r>
          </a:p>
          <a:p>
            <a:pPr>
              <a:spcAft>
                <a:spcPts val="1500"/>
              </a:spcAft>
              <a:defRPr sz="1800">
                <a:solidFill>
                  <a:srgbClr val="1F2A2E"/>
                </a:solidFill>
                <a:latin typeface="Aptos"/>
              </a:defRPr>
            </a:pPr>
            <a:r>
              <a:t>Examples: spike counts, images, trajectories</a:t>
            </a:r>
          </a:p>
          <a:p>
            <a:pPr>
              <a:spcAft>
                <a:spcPts val="1500"/>
              </a:spcAft>
              <a:defRPr sz="1800">
                <a:solidFill>
                  <a:srgbClr val="1F2A2E"/>
                </a:solidFill>
                <a:latin typeface="Aptos"/>
              </a:defRPr>
            </a:pPr>
            <a:r>
              <a:t>Written as x</a:t>
            </a:r>
          </a:p>
        </p:txBody>
      </p:sp>
      <p:sp>
        <p:nvSpPr>
          <p:cNvPr id="6" name="Rounded Rectangle 5"/>
          <p:cNvSpPr/>
          <p:nvPr/>
        </p:nvSpPr>
        <p:spPr>
          <a:xfrm>
            <a:off x="6199632" y="1371600"/>
            <a:ext cx="5321808" cy="4526280"/>
          </a:xfrm>
          <a:prstGeom prst="roundRect">
            <a:avLst>
              <a:gd name="adj" fmla="val 8000"/>
            </a:avLst>
          </a:prstGeom>
          <a:solidFill>
            <a:srgbClr val="DCEFEC"/>
          </a:solidFill>
          <a:ln>
            <a:solidFill>
              <a:srgbClr val="DCE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19072"/>
            <a:ext cx="4663440" cy="384048"/>
          </a:xfrm>
          <a:prstGeom prst="rect">
            <a:avLst/>
          </a:prstGeom>
          <a:noFill/>
        </p:spPr>
        <p:txBody>
          <a:bodyPr wrap="none" lIns="27432" rIns="27432" tIns="18288" bIns="18288" anchor="t">
            <a:spAutoFit/>
          </a:bodyPr>
          <a:lstStyle/>
          <a:p>
            <a:pPr algn="l">
              <a:defRPr sz="1800" b="1">
                <a:solidFill>
                  <a:srgbClr val="1F2A2E"/>
                </a:solidFill>
                <a:latin typeface="Aptos"/>
              </a:defRPr>
            </a:pPr>
            <a:r>
              <a:t>Latent variables and parameters</a:t>
            </a:r>
          </a:p>
        </p:txBody>
      </p:sp>
      <p:sp>
        <p:nvSpPr>
          <p:cNvPr id="8" name="TextBox 7"/>
          <p:cNvSpPr txBox="1"/>
          <p:nvPr/>
        </p:nvSpPr>
        <p:spPr>
          <a:xfrm>
            <a:off x="6528816" y="2359152"/>
            <a:ext cx="4572000" cy="3063240"/>
          </a:xfrm>
          <a:prstGeom prst="rect">
            <a:avLst/>
          </a:prstGeom>
          <a:noFill/>
        </p:spPr>
        <p:txBody>
          <a:bodyPr wrap="square" lIns="27432" rIns="27432">
            <a:spAutoFit/>
          </a:bodyPr>
          <a:lstStyle/>
          <a:p>
            <a:pPr>
              <a:spcAft>
                <a:spcPts val="1500"/>
              </a:spcAft>
              <a:defRPr sz="1800">
                <a:solidFill>
                  <a:srgbClr val="1F2A2E"/>
                </a:solidFill>
                <a:latin typeface="Aptos"/>
              </a:defRPr>
            </a:pPr>
            <a:r>
              <a:t>Latent z explains hidden structure</a:t>
            </a:r>
          </a:p>
          <a:p>
            <a:pPr>
              <a:spcAft>
                <a:spcPts val="1500"/>
              </a:spcAft>
              <a:defRPr sz="1800">
                <a:solidFill>
                  <a:srgbClr val="1F2A2E"/>
                </a:solidFill>
                <a:latin typeface="Aptos"/>
              </a:defRPr>
            </a:pPr>
            <a:r>
              <a:t>Parameters θ specify the model</a:t>
            </a:r>
          </a:p>
          <a:p>
            <a:pPr>
              <a:spcAft>
                <a:spcPts val="1500"/>
              </a:spcAft>
              <a:defRPr sz="1800">
                <a:solidFill>
                  <a:srgbClr val="1F2A2E"/>
                </a:solidFill>
                <a:latin typeface="Aptos"/>
              </a:defRPr>
            </a:pPr>
            <a:r>
              <a:t>A joint distribution connects them</a:t>
            </a:r>
          </a:p>
        </p:txBody>
      </p:sp>
      <p:sp>
        <p:nvSpPr>
          <p:cNvPr id="9" name="TextBox 8"/>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Bayes' rule turns a generative model into inference</a:t>
            </a:r>
          </a:p>
        </p:txBody>
      </p:sp>
      <p:pic>
        <p:nvPicPr>
          <p:cNvPr id="3" name="Picture 2" descr="eq_bayes.png"/>
          <p:cNvPicPr>
            <a:picLocks noChangeAspect="1"/>
          </p:cNvPicPr>
          <p:nvPr/>
        </p:nvPicPr>
        <p:blipFill>
          <a:blip r:embed="rId2"/>
          <a:stretch>
            <a:fillRect/>
          </a:stretch>
        </p:blipFill>
        <p:spPr>
          <a:xfrm>
            <a:off x="914400" y="1483003"/>
            <a:ext cx="10332720" cy="1011632"/>
          </a:xfrm>
          <a:prstGeom prst="rect">
            <a:avLst/>
          </a:prstGeom>
        </p:spPr>
      </p:pic>
      <p:sp>
        <p:nvSpPr>
          <p:cNvPr id="4" name="Rounded Rectangle 3"/>
          <p:cNvSpPr/>
          <p:nvPr/>
        </p:nvSpPr>
        <p:spPr>
          <a:xfrm>
            <a:off x="713232" y="3017520"/>
            <a:ext cx="5074920" cy="841248"/>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3182112"/>
            <a:ext cx="1234440" cy="274320"/>
          </a:xfrm>
          <a:prstGeom prst="rect">
            <a:avLst/>
          </a:prstGeom>
          <a:noFill/>
        </p:spPr>
        <p:txBody>
          <a:bodyPr wrap="none" lIns="27432" rIns="27432" tIns="18288" bIns="18288" anchor="t">
            <a:spAutoFit/>
          </a:bodyPr>
          <a:lstStyle/>
          <a:p>
            <a:pPr algn="l">
              <a:defRPr sz="1600" b="1">
                <a:solidFill>
                  <a:srgbClr val="00807A"/>
                </a:solidFill>
                <a:latin typeface="Aptos"/>
              </a:defRPr>
            </a:pPr>
            <a:r>
              <a:t>posterior</a:t>
            </a:r>
          </a:p>
        </p:txBody>
      </p:sp>
      <p:sp>
        <p:nvSpPr>
          <p:cNvPr id="6" name="TextBox 5"/>
          <p:cNvSpPr txBox="1"/>
          <p:nvPr/>
        </p:nvSpPr>
        <p:spPr>
          <a:xfrm>
            <a:off x="2221991" y="3182112"/>
            <a:ext cx="3246120" cy="384048"/>
          </a:xfrm>
          <a:prstGeom prst="rect">
            <a:avLst/>
          </a:prstGeom>
          <a:noFill/>
        </p:spPr>
        <p:txBody>
          <a:bodyPr wrap="none" lIns="27432" rIns="27432" tIns="18288" bIns="18288" anchor="t">
            <a:spAutoFit/>
          </a:bodyPr>
          <a:lstStyle/>
          <a:p>
            <a:pPr algn="l">
              <a:defRPr sz="1400" b="0">
                <a:solidFill>
                  <a:srgbClr val="5F6D71"/>
                </a:solidFill>
                <a:latin typeface="Aptos"/>
              </a:defRPr>
            </a:pPr>
            <a:r>
              <a:t>what we infer after seeing data</a:t>
            </a:r>
          </a:p>
        </p:txBody>
      </p:sp>
      <p:sp>
        <p:nvSpPr>
          <p:cNvPr id="7" name="Rounded Rectangle 6"/>
          <p:cNvSpPr/>
          <p:nvPr/>
        </p:nvSpPr>
        <p:spPr>
          <a:xfrm>
            <a:off x="6291072" y="3017520"/>
            <a:ext cx="5074920" cy="841248"/>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3182112"/>
            <a:ext cx="1234440" cy="274320"/>
          </a:xfrm>
          <a:prstGeom prst="rect">
            <a:avLst/>
          </a:prstGeom>
          <a:noFill/>
        </p:spPr>
        <p:txBody>
          <a:bodyPr wrap="none" lIns="27432" rIns="27432" tIns="18288" bIns="18288" anchor="t">
            <a:spAutoFit/>
          </a:bodyPr>
          <a:lstStyle/>
          <a:p>
            <a:pPr algn="l">
              <a:defRPr sz="1600" b="1">
                <a:solidFill>
                  <a:srgbClr val="32659C"/>
                </a:solidFill>
                <a:latin typeface="Aptos"/>
              </a:defRPr>
            </a:pPr>
            <a:r>
              <a:t>likelihood</a:t>
            </a:r>
          </a:p>
        </p:txBody>
      </p:sp>
      <p:sp>
        <p:nvSpPr>
          <p:cNvPr id="9" name="TextBox 8"/>
          <p:cNvSpPr txBox="1"/>
          <p:nvPr/>
        </p:nvSpPr>
        <p:spPr>
          <a:xfrm>
            <a:off x="7799831" y="3182112"/>
            <a:ext cx="3246120" cy="384048"/>
          </a:xfrm>
          <a:prstGeom prst="rect">
            <a:avLst/>
          </a:prstGeom>
          <a:noFill/>
        </p:spPr>
        <p:txBody>
          <a:bodyPr wrap="none" lIns="27432" rIns="27432" tIns="18288" bIns="18288" anchor="t">
            <a:spAutoFit/>
          </a:bodyPr>
          <a:lstStyle/>
          <a:p>
            <a:pPr algn="l">
              <a:defRPr sz="1400" b="0">
                <a:solidFill>
                  <a:srgbClr val="5F6D71"/>
                </a:solidFill>
                <a:latin typeface="Aptos"/>
              </a:defRPr>
            </a:pPr>
            <a:r>
              <a:t>how the latent state explains x</a:t>
            </a:r>
          </a:p>
        </p:txBody>
      </p:sp>
      <p:sp>
        <p:nvSpPr>
          <p:cNvPr id="10" name="Rounded Rectangle 9"/>
          <p:cNvSpPr/>
          <p:nvPr/>
        </p:nvSpPr>
        <p:spPr>
          <a:xfrm>
            <a:off x="713232" y="4160520"/>
            <a:ext cx="5074920" cy="841248"/>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4325112"/>
            <a:ext cx="1234440" cy="274320"/>
          </a:xfrm>
          <a:prstGeom prst="rect">
            <a:avLst/>
          </a:prstGeom>
          <a:noFill/>
        </p:spPr>
        <p:txBody>
          <a:bodyPr wrap="none" lIns="27432" rIns="27432" tIns="18288" bIns="18288" anchor="t">
            <a:spAutoFit/>
          </a:bodyPr>
          <a:lstStyle/>
          <a:p>
            <a:pPr algn="l">
              <a:defRPr sz="1600" b="1">
                <a:solidFill>
                  <a:srgbClr val="E07A3B"/>
                </a:solidFill>
                <a:latin typeface="Aptos"/>
              </a:defRPr>
            </a:pPr>
            <a:r>
              <a:t>prior</a:t>
            </a:r>
          </a:p>
        </p:txBody>
      </p:sp>
      <p:sp>
        <p:nvSpPr>
          <p:cNvPr id="12" name="TextBox 11"/>
          <p:cNvSpPr txBox="1"/>
          <p:nvPr/>
        </p:nvSpPr>
        <p:spPr>
          <a:xfrm>
            <a:off x="2221991" y="4325112"/>
            <a:ext cx="3246120" cy="384048"/>
          </a:xfrm>
          <a:prstGeom prst="rect">
            <a:avLst/>
          </a:prstGeom>
          <a:noFill/>
        </p:spPr>
        <p:txBody>
          <a:bodyPr wrap="none" lIns="27432" rIns="27432" tIns="18288" bIns="18288" anchor="t">
            <a:spAutoFit/>
          </a:bodyPr>
          <a:lstStyle/>
          <a:p>
            <a:pPr algn="l">
              <a:defRPr sz="1400" b="0">
                <a:solidFill>
                  <a:srgbClr val="5F6D71"/>
                </a:solidFill>
                <a:latin typeface="Aptos"/>
              </a:defRPr>
            </a:pPr>
            <a:r>
              <a:t>belief before observing x</a:t>
            </a:r>
          </a:p>
        </p:txBody>
      </p:sp>
      <p:sp>
        <p:nvSpPr>
          <p:cNvPr id="13" name="Rounded Rectangle 12"/>
          <p:cNvSpPr/>
          <p:nvPr/>
        </p:nvSpPr>
        <p:spPr>
          <a:xfrm>
            <a:off x="6291072" y="4160520"/>
            <a:ext cx="5074920" cy="841248"/>
          </a:xfrm>
          <a:prstGeom prst="roundRect">
            <a:avLst>
              <a:gd name="adj" fmla="val 8000"/>
            </a:avLst>
          </a:prstGeom>
          <a:solidFill>
            <a:srgbClr val="FFFFFF"/>
          </a:solidFill>
          <a:ln>
            <a:solidFill>
              <a:srgbClr val="EB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4325112"/>
            <a:ext cx="1234440" cy="274320"/>
          </a:xfrm>
          <a:prstGeom prst="rect">
            <a:avLst/>
          </a:prstGeom>
          <a:noFill/>
        </p:spPr>
        <p:txBody>
          <a:bodyPr wrap="none" lIns="27432" rIns="27432" tIns="18288" bIns="18288" anchor="t">
            <a:spAutoFit/>
          </a:bodyPr>
          <a:lstStyle/>
          <a:p>
            <a:pPr algn="l">
              <a:defRPr sz="1600" b="1">
                <a:solidFill>
                  <a:srgbClr val="EBBB44"/>
                </a:solidFill>
                <a:latin typeface="Aptos"/>
              </a:defRPr>
            </a:pPr>
            <a:r>
              <a:t>evidence</a:t>
            </a:r>
          </a:p>
        </p:txBody>
      </p:sp>
      <p:sp>
        <p:nvSpPr>
          <p:cNvPr id="15" name="TextBox 14"/>
          <p:cNvSpPr txBox="1"/>
          <p:nvPr/>
        </p:nvSpPr>
        <p:spPr>
          <a:xfrm>
            <a:off x="7799831" y="4325112"/>
            <a:ext cx="3246120" cy="384048"/>
          </a:xfrm>
          <a:prstGeom prst="rect">
            <a:avLst/>
          </a:prstGeom>
          <a:noFill/>
        </p:spPr>
        <p:txBody>
          <a:bodyPr wrap="none" lIns="27432" rIns="27432" tIns="18288" bIns="18288" anchor="t">
            <a:spAutoFit/>
          </a:bodyPr>
          <a:lstStyle/>
          <a:p>
            <a:pPr algn="l">
              <a:defRPr sz="1400" b="0">
                <a:solidFill>
                  <a:srgbClr val="5F6D71"/>
                </a:solidFill>
                <a:latin typeface="Aptos"/>
              </a:defRPr>
            </a:pPr>
            <a:r>
              <a:t>normalization; often the hard term</a:t>
            </a:r>
          </a:p>
        </p:txBody>
      </p:sp>
      <p:sp>
        <p:nvSpPr>
          <p:cNvPr id="16" name="TextBox 1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Learning and inference are different operations</a:t>
            </a:r>
          </a:p>
        </p:txBody>
      </p:sp>
      <p:sp>
        <p:nvSpPr>
          <p:cNvPr id="3" name="Rounded Rectangle 2"/>
          <p:cNvSpPr/>
          <p:nvPr/>
        </p:nvSpPr>
        <p:spPr>
          <a:xfrm>
            <a:off x="777240" y="1508760"/>
            <a:ext cx="3337560" cy="3977639"/>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47088"/>
            <a:ext cx="2880360" cy="365760"/>
          </a:xfrm>
          <a:prstGeom prst="rect">
            <a:avLst/>
          </a:prstGeom>
          <a:noFill/>
        </p:spPr>
        <p:txBody>
          <a:bodyPr wrap="none" lIns="27432" rIns="27432" tIns="18288" bIns="18288" anchor="t">
            <a:spAutoFit/>
          </a:bodyPr>
          <a:lstStyle/>
          <a:p>
            <a:pPr algn="ctr">
              <a:defRPr sz="2000" b="1">
                <a:solidFill>
                  <a:srgbClr val="00807A"/>
                </a:solidFill>
                <a:latin typeface="Aptos"/>
              </a:defRPr>
            </a:pPr>
            <a:r>
              <a:t>Inference</a:t>
            </a:r>
          </a:p>
        </p:txBody>
      </p:sp>
      <p:sp>
        <p:nvSpPr>
          <p:cNvPr id="5" name="TextBox 4"/>
          <p:cNvSpPr txBox="1"/>
          <p:nvPr/>
        </p:nvSpPr>
        <p:spPr>
          <a:xfrm>
            <a:off x="1097280" y="2743200"/>
            <a:ext cx="2697480" cy="347472"/>
          </a:xfrm>
          <a:prstGeom prst="rect">
            <a:avLst/>
          </a:prstGeom>
          <a:noFill/>
        </p:spPr>
        <p:txBody>
          <a:bodyPr wrap="none" lIns="27432" rIns="27432" tIns="18288" bIns="18288" anchor="t">
            <a:spAutoFit/>
          </a:bodyPr>
          <a:lstStyle/>
          <a:p>
            <a:pPr algn="ctr">
              <a:defRPr sz="1500" b="0">
                <a:solidFill>
                  <a:srgbClr val="5F6D71"/>
                </a:solidFill>
                <a:latin typeface="Aptos"/>
              </a:defRPr>
            </a:pPr>
            <a:r>
              <a:t>Given θ and x</a:t>
            </a:r>
          </a:p>
        </p:txBody>
      </p:sp>
      <p:sp>
        <p:nvSpPr>
          <p:cNvPr id="6" name="TextBox 5"/>
          <p:cNvSpPr txBox="1"/>
          <p:nvPr/>
        </p:nvSpPr>
        <p:spPr>
          <a:xfrm>
            <a:off x="2130552" y="3337560"/>
            <a:ext cx="594360" cy="502920"/>
          </a:xfrm>
          <a:prstGeom prst="rect">
            <a:avLst/>
          </a:prstGeom>
          <a:noFill/>
        </p:spPr>
        <p:txBody>
          <a:bodyPr wrap="none" lIns="27432" rIns="27432" tIns="18288" bIns="18288" anchor="t">
            <a:spAutoFit/>
          </a:bodyPr>
          <a:lstStyle/>
          <a:p>
            <a:pPr algn="ctr">
              <a:defRPr sz="3000" b="1">
                <a:solidFill>
                  <a:srgbClr val="00807A"/>
                </a:solidFill>
                <a:latin typeface="Aptos"/>
              </a:defRPr>
            </a:pPr>
            <a:r>
              <a:t>↓</a:t>
            </a:r>
          </a:p>
        </p:txBody>
      </p:sp>
      <p:sp>
        <p:nvSpPr>
          <p:cNvPr id="7" name="TextBox 6"/>
          <p:cNvSpPr txBox="1"/>
          <p:nvPr/>
        </p:nvSpPr>
        <p:spPr>
          <a:xfrm>
            <a:off x="1097280" y="4251960"/>
            <a:ext cx="2697480" cy="365760"/>
          </a:xfrm>
          <a:prstGeom prst="rect">
            <a:avLst/>
          </a:prstGeom>
          <a:noFill/>
        </p:spPr>
        <p:txBody>
          <a:bodyPr wrap="none" lIns="27432" rIns="27432" tIns="18288" bIns="18288" anchor="t">
            <a:spAutoFit/>
          </a:bodyPr>
          <a:lstStyle/>
          <a:p>
            <a:pPr algn="ctr">
              <a:defRPr sz="1800" b="1">
                <a:solidFill>
                  <a:srgbClr val="1F2A2E"/>
                </a:solidFill>
                <a:latin typeface="Aptos"/>
              </a:defRPr>
            </a:pPr>
            <a:r>
              <a:t>estimate z</a:t>
            </a:r>
          </a:p>
        </p:txBody>
      </p:sp>
      <p:sp>
        <p:nvSpPr>
          <p:cNvPr id="8" name="Rounded Rectangle 7"/>
          <p:cNvSpPr/>
          <p:nvPr/>
        </p:nvSpPr>
        <p:spPr>
          <a:xfrm>
            <a:off x="4389120" y="1508760"/>
            <a:ext cx="3337560" cy="3977639"/>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47088"/>
            <a:ext cx="2880360" cy="365760"/>
          </a:xfrm>
          <a:prstGeom prst="rect">
            <a:avLst/>
          </a:prstGeom>
          <a:noFill/>
        </p:spPr>
        <p:txBody>
          <a:bodyPr wrap="none" lIns="27432" rIns="27432" tIns="18288" bIns="18288" anchor="t">
            <a:spAutoFit/>
          </a:bodyPr>
          <a:lstStyle/>
          <a:p>
            <a:pPr algn="ctr">
              <a:defRPr sz="2000" b="1">
                <a:solidFill>
                  <a:srgbClr val="32659C"/>
                </a:solidFill>
                <a:latin typeface="Aptos"/>
              </a:defRPr>
            </a:pPr>
            <a:r>
              <a:t>Learning</a:t>
            </a:r>
          </a:p>
        </p:txBody>
      </p:sp>
      <p:sp>
        <p:nvSpPr>
          <p:cNvPr id="10" name="TextBox 9"/>
          <p:cNvSpPr txBox="1"/>
          <p:nvPr/>
        </p:nvSpPr>
        <p:spPr>
          <a:xfrm>
            <a:off x="4709159" y="2743200"/>
            <a:ext cx="2697480" cy="347472"/>
          </a:xfrm>
          <a:prstGeom prst="rect">
            <a:avLst/>
          </a:prstGeom>
          <a:noFill/>
        </p:spPr>
        <p:txBody>
          <a:bodyPr wrap="none" lIns="27432" rIns="27432" tIns="18288" bIns="18288" anchor="t">
            <a:spAutoFit/>
          </a:bodyPr>
          <a:lstStyle/>
          <a:p>
            <a:pPr algn="ctr">
              <a:defRPr sz="1500" b="0">
                <a:solidFill>
                  <a:srgbClr val="5F6D71"/>
                </a:solidFill>
                <a:latin typeface="Aptos"/>
              </a:defRPr>
            </a:pPr>
            <a:r>
              <a:t>Given x</a:t>
            </a:r>
          </a:p>
        </p:txBody>
      </p:sp>
      <p:sp>
        <p:nvSpPr>
          <p:cNvPr id="11" name="TextBox 10"/>
          <p:cNvSpPr txBox="1"/>
          <p:nvPr/>
        </p:nvSpPr>
        <p:spPr>
          <a:xfrm>
            <a:off x="5742431" y="3337560"/>
            <a:ext cx="594360" cy="502920"/>
          </a:xfrm>
          <a:prstGeom prst="rect">
            <a:avLst/>
          </a:prstGeom>
          <a:noFill/>
        </p:spPr>
        <p:txBody>
          <a:bodyPr wrap="none" lIns="27432" rIns="27432" tIns="18288" bIns="18288" anchor="t">
            <a:spAutoFit/>
          </a:bodyPr>
          <a:lstStyle/>
          <a:p>
            <a:pPr algn="ctr">
              <a:defRPr sz="3000" b="1">
                <a:solidFill>
                  <a:srgbClr val="32659C"/>
                </a:solidFill>
                <a:latin typeface="Aptos"/>
              </a:defRPr>
            </a:pPr>
            <a:r>
              <a:t>↓</a:t>
            </a:r>
          </a:p>
        </p:txBody>
      </p:sp>
      <p:sp>
        <p:nvSpPr>
          <p:cNvPr id="12" name="TextBox 11"/>
          <p:cNvSpPr txBox="1"/>
          <p:nvPr/>
        </p:nvSpPr>
        <p:spPr>
          <a:xfrm>
            <a:off x="4709159" y="4251960"/>
            <a:ext cx="2697480" cy="365760"/>
          </a:xfrm>
          <a:prstGeom prst="rect">
            <a:avLst/>
          </a:prstGeom>
          <a:noFill/>
        </p:spPr>
        <p:txBody>
          <a:bodyPr wrap="none" lIns="27432" rIns="27432" tIns="18288" bIns="18288" anchor="t">
            <a:spAutoFit/>
          </a:bodyPr>
          <a:lstStyle/>
          <a:p>
            <a:pPr algn="ctr">
              <a:defRPr sz="1800" b="1">
                <a:solidFill>
                  <a:srgbClr val="1F2A2E"/>
                </a:solidFill>
                <a:latin typeface="Aptos"/>
              </a:defRPr>
            </a:pPr>
            <a:r>
              <a:t>estimate θ</a:t>
            </a:r>
          </a:p>
        </p:txBody>
      </p:sp>
      <p:sp>
        <p:nvSpPr>
          <p:cNvPr id="13" name="Rounded Rectangle 12"/>
          <p:cNvSpPr/>
          <p:nvPr/>
        </p:nvSpPr>
        <p:spPr>
          <a:xfrm>
            <a:off x="8001000" y="1508760"/>
            <a:ext cx="3337560" cy="3977639"/>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47088"/>
            <a:ext cx="2880360" cy="365760"/>
          </a:xfrm>
          <a:prstGeom prst="rect">
            <a:avLst/>
          </a:prstGeom>
          <a:noFill/>
        </p:spPr>
        <p:txBody>
          <a:bodyPr wrap="none" lIns="27432" rIns="27432" tIns="18288" bIns="18288" anchor="t">
            <a:spAutoFit/>
          </a:bodyPr>
          <a:lstStyle/>
          <a:p>
            <a:pPr algn="ctr">
              <a:defRPr sz="2000" b="1">
                <a:solidFill>
                  <a:srgbClr val="E07A3B"/>
                </a:solidFill>
                <a:latin typeface="Aptos"/>
              </a:defRPr>
            </a:pPr>
            <a:r>
              <a:t>Prediction</a:t>
            </a:r>
          </a:p>
        </p:txBody>
      </p:sp>
      <p:sp>
        <p:nvSpPr>
          <p:cNvPr id="15" name="TextBox 14"/>
          <p:cNvSpPr txBox="1"/>
          <p:nvPr/>
        </p:nvSpPr>
        <p:spPr>
          <a:xfrm>
            <a:off x="8321040" y="2743200"/>
            <a:ext cx="2697480" cy="347472"/>
          </a:xfrm>
          <a:prstGeom prst="rect">
            <a:avLst/>
          </a:prstGeom>
          <a:noFill/>
        </p:spPr>
        <p:txBody>
          <a:bodyPr wrap="none" lIns="27432" rIns="27432" tIns="18288" bIns="18288" anchor="t">
            <a:spAutoFit/>
          </a:bodyPr>
          <a:lstStyle/>
          <a:p>
            <a:pPr algn="ctr">
              <a:defRPr sz="1500" b="0">
                <a:solidFill>
                  <a:srgbClr val="5F6D71"/>
                </a:solidFill>
                <a:latin typeface="Aptos"/>
              </a:defRPr>
            </a:pPr>
            <a:r>
              <a:t>Given new x</a:t>
            </a:r>
          </a:p>
        </p:txBody>
      </p:sp>
      <p:sp>
        <p:nvSpPr>
          <p:cNvPr id="16" name="TextBox 15"/>
          <p:cNvSpPr txBox="1"/>
          <p:nvPr/>
        </p:nvSpPr>
        <p:spPr>
          <a:xfrm>
            <a:off x="9354312" y="3337560"/>
            <a:ext cx="594360" cy="502920"/>
          </a:xfrm>
          <a:prstGeom prst="rect">
            <a:avLst/>
          </a:prstGeom>
          <a:noFill/>
        </p:spPr>
        <p:txBody>
          <a:bodyPr wrap="none" lIns="27432" rIns="27432" tIns="18288" bIns="18288" anchor="t">
            <a:spAutoFit/>
          </a:bodyPr>
          <a:lstStyle/>
          <a:p>
            <a:pPr algn="ctr">
              <a:defRPr sz="3000" b="1">
                <a:solidFill>
                  <a:srgbClr val="E07A3B"/>
                </a:solidFill>
                <a:latin typeface="Aptos"/>
              </a:defRPr>
            </a:pPr>
            <a:r>
              <a:t>↓</a:t>
            </a:r>
          </a:p>
        </p:txBody>
      </p:sp>
      <p:sp>
        <p:nvSpPr>
          <p:cNvPr id="17" name="TextBox 16"/>
          <p:cNvSpPr txBox="1"/>
          <p:nvPr/>
        </p:nvSpPr>
        <p:spPr>
          <a:xfrm>
            <a:off x="8321040" y="4251960"/>
            <a:ext cx="2697480" cy="365760"/>
          </a:xfrm>
          <a:prstGeom prst="rect">
            <a:avLst/>
          </a:prstGeom>
          <a:noFill/>
        </p:spPr>
        <p:txBody>
          <a:bodyPr wrap="none" lIns="27432" rIns="27432" tIns="18288" bIns="18288" anchor="t">
            <a:spAutoFit/>
          </a:bodyPr>
          <a:lstStyle/>
          <a:p>
            <a:pPr algn="ctr">
              <a:defRPr sz="1800" b="1">
                <a:solidFill>
                  <a:srgbClr val="1F2A2E"/>
                </a:solidFill>
                <a:latin typeface="Aptos"/>
              </a:defRPr>
            </a:pPr>
            <a:r>
              <a:t>predict missing or future data</a:t>
            </a:r>
          </a:p>
        </p:txBody>
      </p:sp>
      <p:sp>
        <p:nvSpPr>
          <p:cNvPr id="18" name="TextBox 17"/>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Gradients tell us how to change parameters</a:t>
            </a:r>
          </a:p>
        </p:txBody>
      </p:sp>
      <p:pic>
        <p:nvPicPr>
          <p:cNvPr id="3" name="Picture 2" descr="eq_gradient.png"/>
          <p:cNvPicPr>
            <a:picLocks noChangeAspect="1"/>
          </p:cNvPicPr>
          <p:nvPr/>
        </p:nvPicPr>
        <p:blipFill>
          <a:blip r:embed="rId2"/>
          <a:stretch>
            <a:fillRect/>
          </a:stretch>
        </p:blipFill>
        <p:spPr>
          <a:xfrm>
            <a:off x="1177473" y="1325880"/>
            <a:ext cx="9806573" cy="960120"/>
          </a:xfrm>
          <a:prstGeom prst="rect">
            <a:avLst/>
          </a:prstGeom>
        </p:spPr>
      </p:pic>
      <p:sp>
        <p:nvSpPr>
          <p:cNvPr id="4" name="Rounded Rectangle 3"/>
          <p:cNvSpPr/>
          <p:nvPr/>
        </p:nvSpPr>
        <p:spPr>
          <a:xfrm>
            <a:off x="914400" y="2743200"/>
            <a:ext cx="10332720" cy="2286000"/>
          </a:xfrm>
          <a:prstGeom prst="roundRect">
            <a:avLst>
              <a:gd name="adj" fmla="val 8000"/>
            </a:avLst>
          </a:prstGeom>
          <a:solidFill>
            <a:srgbClr val="E0EAF4"/>
          </a:solidFill>
          <a:ln>
            <a:solidFill>
              <a:srgbClr val="E0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61872" y="3127248"/>
            <a:ext cx="9601200" cy="1572768"/>
          </a:xfrm>
          <a:prstGeom prst="rect">
            <a:avLst/>
          </a:prstGeom>
          <a:noFill/>
        </p:spPr>
        <p:txBody>
          <a:bodyPr wrap="square" lIns="27432" rIns="27432">
            <a:spAutoFit/>
          </a:bodyPr>
          <a:lstStyle/>
          <a:p>
            <a:pPr>
              <a:spcAft>
                <a:spcPts val="1000"/>
              </a:spcAft>
              <a:defRPr sz="1800">
                <a:solidFill>
                  <a:srgbClr val="1F2A2E"/>
                </a:solidFill>
                <a:latin typeface="Aptos"/>
              </a:defRPr>
            </a:pPr>
            <a:r>
              <a:t>∇θ L points toward the steepest local increase in loss</a:t>
            </a:r>
          </a:p>
          <a:p>
            <a:pPr>
              <a:spcAft>
                <a:spcPts val="1000"/>
              </a:spcAft>
              <a:defRPr sz="1800">
                <a:solidFill>
                  <a:srgbClr val="1F2A2E"/>
                </a:solidFill>
                <a:latin typeface="Aptos"/>
              </a:defRPr>
            </a:pPr>
            <a:r>
              <a:t>η controls the step size</a:t>
            </a:r>
          </a:p>
          <a:p>
            <a:pPr>
              <a:spcAft>
                <a:spcPts val="1000"/>
              </a:spcAft>
              <a:defRPr sz="1800">
                <a:solidFill>
                  <a:srgbClr val="1F2A2E"/>
                </a:solidFill>
                <a:latin typeface="Aptos"/>
              </a:defRPr>
            </a:pPr>
            <a:r>
              <a:t>Backpropagation applies the chain rule through a computation graph</a:t>
            </a:r>
          </a:p>
          <a:p>
            <a:pPr>
              <a:spcAft>
                <a:spcPts val="1000"/>
              </a:spcAft>
              <a:defRPr sz="1800">
                <a:solidFill>
                  <a:srgbClr val="1F2A2E"/>
                </a:solidFill>
                <a:latin typeface="Aptos"/>
              </a:defRPr>
            </a:pPr>
            <a:r>
              <a:t>Automatic differentiation computes exact derivatives of the implemented program</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Optimization does not remove modeling assumptions</a:t>
            </a:r>
          </a:p>
        </p:txBody>
      </p:sp>
      <p:sp>
        <p:nvSpPr>
          <p:cNvPr id="3" name="Rounded Rectangle 2"/>
          <p:cNvSpPr/>
          <p:nvPr/>
        </p:nvSpPr>
        <p:spPr>
          <a:xfrm>
            <a:off x="777240" y="1417320"/>
            <a:ext cx="5102352" cy="160020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719072"/>
            <a:ext cx="1920240" cy="329184"/>
          </a:xfrm>
          <a:prstGeom prst="rect">
            <a:avLst/>
          </a:prstGeom>
          <a:noFill/>
        </p:spPr>
        <p:txBody>
          <a:bodyPr wrap="none" lIns="27432" rIns="27432" tIns="18288" bIns="18288" anchor="t">
            <a:spAutoFit/>
          </a:bodyPr>
          <a:lstStyle/>
          <a:p>
            <a:pPr algn="l">
              <a:defRPr sz="1800" b="1">
                <a:solidFill>
                  <a:srgbClr val="32659C"/>
                </a:solidFill>
                <a:latin typeface="Aptos"/>
              </a:defRPr>
            </a:pPr>
            <a:r>
              <a:t>Objective</a:t>
            </a:r>
          </a:p>
        </p:txBody>
      </p:sp>
      <p:sp>
        <p:nvSpPr>
          <p:cNvPr id="5" name="TextBox 4"/>
          <p:cNvSpPr txBox="1"/>
          <p:nvPr/>
        </p:nvSpPr>
        <p:spPr>
          <a:xfrm>
            <a:off x="1051560" y="2286000"/>
            <a:ext cx="4480560" cy="384048"/>
          </a:xfrm>
          <a:prstGeom prst="rect">
            <a:avLst/>
          </a:prstGeom>
          <a:noFill/>
        </p:spPr>
        <p:txBody>
          <a:bodyPr wrap="none" lIns="27432" rIns="27432" tIns="18288" bIns="18288" anchor="t">
            <a:spAutoFit/>
          </a:bodyPr>
          <a:lstStyle/>
          <a:p>
            <a:pPr algn="l">
              <a:defRPr sz="1500" b="0">
                <a:solidFill>
                  <a:srgbClr val="5F6D71"/>
                </a:solidFill>
                <a:latin typeface="Aptos"/>
              </a:defRPr>
            </a:pPr>
            <a:r>
              <a:t>What quantity should improve?</a:t>
            </a:r>
          </a:p>
        </p:txBody>
      </p:sp>
      <p:sp>
        <p:nvSpPr>
          <p:cNvPr id="6" name="Rounded Rectangle 5"/>
          <p:cNvSpPr/>
          <p:nvPr/>
        </p:nvSpPr>
        <p:spPr>
          <a:xfrm>
            <a:off x="6400800" y="1417320"/>
            <a:ext cx="5102352" cy="160020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719072"/>
            <a:ext cx="1920240" cy="329184"/>
          </a:xfrm>
          <a:prstGeom prst="rect">
            <a:avLst/>
          </a:prstGeom>
          <a:noFill/>
        </p:spPr>
        <p:txBody>
          <a:bodyPr wrap="none" lIns="27432" rIns="27432" tIns="18288" bIns="18288" anchor="t">
            <a:spAutoFit/>
          </a:bodyPr>
          <a:lstStyle/>
          <a:p>
            <a:pPr algn="l">
              <a:defRPr sz="1800" b="1">
                <a:solidFill>
                  <a:srgbClr val="00807A"/>
                </a:solidFill>
                <a:latin typeface="Aptos"/>
              </a:defRPr>
            </a:pPr>
            <a:r>
              <a:t>Parameterization</a:t>
            </a:r>
          </a:p>
        </p:txBody>
      </p:sp>
      <p:sp>
        <p:nvSpPr>
          <p:cNvPr id="8" name="TextBox 7"/>
          <p:cNvSpPr txBox="1"/>
          <p:nvPr/>
        </p:nvSpPr>
        <p:spPr>
          <a:xfrm>
            <a:off x="6675120" y="2286000"/>
            <a:ext cx="4480560" cy="384048"/>
          </a:xfrm>
          <a:prstGeom prst="rect">
            <a:avLst/>
          </a:prstGeom>
          <a:noFill/>
        </p:spPr>
        <p:txBody>
          <a:bodyPr wrap="none" lIns="27432" rIns="27432" tIns="18288" bIns="18288" anchor="t">
            <a:spAutoFit/>
          </a:bodyPr>
          <a:lstStyle/>
          <a:p>
            <a:pPr algn="l">
              <a:defRPr sz="1500" b="0">
                <a:solidFill>
                  <a:srgbClr val="5F6D71"/>
                </a:solidFill>
                <a:latin typeface="Aptos"/>
              </a:defRPr>
            </a:pPr>
            <a:r>
              <a:t>Which functions can the model express?</a:t>
            </a:r>
          </a:p>
        </p:txBody>
      </p:sp>
      <p:sp>
        <p:nvSpPr>
          <p:cNvPr id="9" name="Rounded Rectangle 8"/>
          <p:cNvSpPr/>
          <p:nvPr/>
        </p:nvSpPr>
        <p:spPr>
          <a:xfrm>
            <a:off x="777240" y="3593591"/>
            <a:ext cx="5102352" cy="160020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895344"/>
            <a:ext cx="1920240" cy="329184"/>
          </a:xfrm>
          <a:prstGeom prst="rect">
            <a:avLst/>
          </a:prstGeom>
          <a:noFill/>
        </p:spPr>
        <p:txBody>
          <a:bodyPr wrap="none" lIns="27432" rIns="27432" tIns="18288" bIns="18288" anchor="t">
            <a:spAutoFit/>
          </a:bodyPr>
          <a:lstStyle/>
          <a:p>
            <a:pPr algn="l">
              <a:defRPr sz="1800" b="1">
                <a:solidFill>
                  <a:srgbClr val="E07A3B"/>
                </a:solidFill>
                <a:latin typeface="Aptos"/>
              </a:defRPr>
            </a:pPr>
            <a:r>
              <a:t>Data split</a:t>
            </a:r>
          </a:p>
        </p:txBody>
      </p:sp>
      <p:sp>
        <p:nvSpPr>
          <p:cNvPr id="11" name="TextBox 10"/>
          <p:cNvSpPr txBox="1"/>
          <p:nvPr/>
        </p:nvSpPr>
        <p:spPr>
          <a:xfrm>
            <a:off x="1051560" y="4462272"/>
            <a:ext cx="4480560" cy="384048"/>
          </a:xfrm>
          <a:prstGeom prst="rect">
            <a:avLst/>
          </a:prstGeom>
          <a:noFill/>
        </p:spPr>
        <p:txBody>
          <a:bodyPr wrap="none" lIns="27432" rIns="27432" tIns="18288" bIns="18288" anchor="t">
            <a:spAutoFit/>
          </a:bodyPr>
          <a:lstStyle/>
          <a:p>
            <a:pPr algn="l">
              <a:defRPr sz="1500" b="0">
                <a:solidFill>
                  <a:srgbClr val="5F6D71"/>
                </a:solidFill>
                <a:latin typeface="Aptos"/>
              </a:defRPr>
            </a:pPr>
            <a:r>
              <a:t>What evidence tests generalization?</a:t>
            </a:r>
          </a:p>
        </p:txBody>
      </p:sp>
      <p:sp>
        <p:nvSpPr>
          <p:cNvPr id="12" name="Rounded Rectangle 11"/>
          <p:cNvSpPr/>
          <p:nvPr/>
        </p:nvSpPr>
        <p:spPr>
          <a:xfrm>
            <a:off x="6400800" y="3593591"/>
            <a:ext cx="5102352" cy="1600200"/>
          </a:xfrm>
          <a:prstGeom prst="roundRect">
            <a:avLst>
              <a:gd name="adj" fmla="val 8000"/>
            </a:avLst>
          </a:prstGeom>
          <a:solidFill>
            <a:srgbClr val="FFFFFF"/>
          </a:solidFill>
          <a:ln>
            <a:solidFill>
              <a:srgbClr val="EB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3895344"/>
            <a:ext cx="1920240" cy="329184"/>
          </a:xfrm>
          <a:prstGeom prst="rect">
            <a:avLst/>
          </a:prstGeom>
          <a:noFill/>
        </p:spPr>
        <p:txBody>
          <a:bodyPr wrap="none" lIns="27432" rIns="27432" tIns="18288" bIns="18288" anchor="t">
            <a:spAutoFit/>
          </a:bodyPr>
          <a:lstStyle/>
          <a:p>
            <a:pPr algn="l">
              <a:defRPr sz="1800" b="1">
                <a:solidFill>
                  <a:srgbClr val="EBBB44"/>
                </a:solidFill>
                <a:latin typeface="Aptos"/>
              </a:defRPr>
            </a:pPr>
            <a:r>
              <a:t>Identifiability</a:t>
            </a:r>
          </a:p>
        </p:txBody>
      </p:sp>
      <p:sp>
        <p:nvSpPr>
          <p:cNvPr id="14" name="TextBox 13"/>
          <p:cNvSpPr txBox="1"/>
          <p:nvPr/>
        </p:nvSpPr>
        <p:spPr>
          <a:xfrm>
            <a:off x="6675120" y="4462272"/>
            <a:ext cx="4480560" cy="384048"/>
          </a:xfrm>
          <a:prstGeom prst="rect">
            <a:avLst/>
          </a:prstGeom>
          <a:noFill/>
        </p:spPr>
        <p:txBody>
          <a:bodyPr wrap="none" lIns="27432" rIns="27432" tIns="18288" bIns="18288" anchor="t">
            <a:spAutoFit/>
          </a:bodyPr>
          <a:lstStyle/>
          <a:p>
            <a:pPr algn="l">
              <a:defRPr sz="1500" b="0">
                <a:solidFill>
                  <a:srgbClr val="5F6D71"/>
                </a:solidFill>
                <a:latin typeface="Aptos"/>
              </a:defRPr>
            </a:pPr>
            <a:r>
              <a:t>Can different parameters explain the same data?</a:t>
            </a:r>
          </a:p>
        </p:txBody>
      </p:sp>
      <p:sp>
        <p:nvSpPr>
          <p:cNvPr id="15" name="TextBox 14"/>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2</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Mixture models and EM</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The first nontrivial latent-variable learning problem</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2</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 mixture model explains heterogeneity</a:t>
            </a:r>
          </a:p>
        </p:txBody>
      </p:sp>
      <p:pic>
        <p:nvPicPr>
          <p:cNvPr id="3" name="Picture 2" descr="eq_gmm.png"/>
          <p:cNvPicPr>
            <a:picLocks noChangeAspect="1"/>
          </p:cNvPicPr>
          <p:nvPr/>
        </p:nvPicPr>
        <p:blipFill>
          <a:blip r:embed="rId2"/>
          <a:stretch>
            <a:fillRect/>
          </a:stretch>
        </p:blipFill>
        <p:spPr>
          <a:xfrm>
            <a:off x="1861265" y="1234440"/>
            <a:ext cx="8438989" cy="1051560"/>
          </a:xfrm>
          <a:prstGeom prst="rect">
            <a:avLst/>
          </a:prstGeom>
        </p:spPr>
      </p:pic>
      <p:sp>
        <p:nvSpPr>
          <p:cNvPr id="4" name="Rounded Rectangle 3"/>
          <p:cNvSpPr/>
          <p:nvPr/>
        </p:nvSpPr>
        <p:spPr>
          <a:xfrm>
            <a:off x="822960" y="2743200"/>
            <a:ext cx="3154680" cy="150876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063240"/>
            <a:ext cx="2788920" cy="411480"/>
          </a:xfrm>
          <a:prstGeom prst="rect">
            <a:avLst/>
          </a:prstGeom>
          <a:noFill/>
        </p:spPr>
        <p:txBody>
          <a:bodyPr wrap="none" lIns="27432" rIns="27432" tIns="18288" bIns="18288" anchor="t">
            <a:spAutoFit/>
          </a:bodyPr>
          <a:lstStyle/>
          <a:p>
            <a:pPr algn="ctr">
              <a:defRPr sz="2300" b="1">
                <a:solidFill>
                  <a:srgbClr val="E07A3B"/>
                </a:solidFill>
                <a:latin typeface="Aptos"/>
              </a:defRPr>
            </a:pPr>
            <a:r>
              <a:t>πk</a:t>
            </a:r>
          </a:p>
        </p:txBody>
      </p:sp>
      <p:sp>
        <p:nvSpPr>
          <p:cNvPr id="6" name="TextBox 5"/>
          <p:cNvSpPr txBox="1"/>
          <p:nvPr/>
        </p:nvSpPr>
        <p:spPr>
          <a:xfrm>
            <a:off x="1005840" y="3703320"/>
            <a:ext cx="2788920" cy="256032"/>
          </a:xfrm>
          <a:prstGeom prst="rect">
            <a:avLst/>
          </a:prstGeom>
          <a:noFill/>
        </p:spPr>
        <p:txBody>
          <a:bodyPr wrap="none" lIns="27432" rIns="27432" tIns="18288" bIns="18288" anchor="t">
            <a:spAutoFit/>
          </a:bodyPr>
          <a:lstStyle/>
          <a:p>
            <a:pPr algn="ctr">
              <a:defRPr sz="1400" b="0">
                <a:solidFill>
                  <a:srgbClr val="5F6D71"/>
                </a:solidFill>
                <a:latin typeface="Aptos"/>
              </a:defRPr>
            </a:pPr>
            <a:r>
              <a:t>component frequency</a:t>
            </a:r>
          </a:p>
        </p:txBody>
      </p:sp>
      <p:sp>
        <p:nvSpPr>
          <p:cNvPr id="7" name="Rounded Rectangle 6"/>
          <p:cNvSpPr/>
          <p:nvPr/>
        </p:nvSpPr>
        <p:spPr>
          <a:xfrm>
            <a:off x="4279392" y="2743200"/>
            <a:ext cx="3154680" cy="150876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62272" y="3063240"/>
            <a:ext cx="2788920" cy="411480"/>
          </a:xfrm>
          <a:prstGeom prst="rect">
            <a:avLst/>
          </a:prstGeom>
          <a:noFill/>
        </p:spPr>
        <p:txBody>
          <a:bodyPr wrap="none" lIns="27432" rIns="27432" tIns="18288" bIns="18288" anchor="t">
            <a:spAutoFit/>
          </a:bodyPr>
          <a:lstStyle/>
          <a:p>
            <a:pPr algn="ctr">
              <a:defRPr sz="2300" b="1">
                <a:solidFill>
                  <a:srgbClr val="00807A"/>
                </a:solidFill>
                <a:latin typeface="Aptos"/>
              </a:defRPr>
            </a:pPr>
            <a:r>
              <a:t>μk</a:t>
            </a:r>
          </a:p>
        </p:txBody>
      </p:sp>
      <p:sp>
        <p:nvSpPr>
          <p:cNvPr id="9" name="TextBox 8"/>
          <p:cNvSpPr txBox="1"/>
          <p:nvPr/>
        </p:nvSpPr>
        <p:spPr>
          <a:xfrm>
            <a:off x="4462272" y="3703320"/>
            <a:ext cx="2788920" cy="256032"/>
          </a:xfrm>
          <a:prstGeom prst="rect">
            <a:avLst/>
          </a:prstGeom>
          <a:noFill/>
        </p:spPr>
        <p:txBody>
          <a:bodyPr wrap="none" lIns="27432" rIns="27432" tIns="18288" bIns="18288" anchor="t">
            <a:spAutoFit/>
          </a:bodyPr>
          <a:lstStyle/>
          <a:p>
            <a:pPr algn="ctr">
              <a:defRPr sz="1400" b="0">
                <a:solidFill>
                  <a:srgbClr val="5F6D71"/>
                </a:solidFill>
                <a:latin typeface="Aptos"/>
              </a:defRPr>
            </a:pPr>
            <a:r>
              <a:t>component center</a:t>
            </a:r>
          </a:p>
        </p:txBody>
      </p:sp>
      <p:sp>
        <p:nvSpPr>
          <p:cNvPr id="10" name="Rounded Rectangle 9"/>
          <p:cNvSpPr/>
          <p:nvPr/>
        </p:nvSpPr>
        <p:spPr>
          <a:xfrm>
            <a:off x="7735824" y="2743200"/>
            <a:ext cx="3154680" cy="150876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18704" y="3063240"/>
            <a:ext cx="2788920" cy="411480"/>
          </a:xfrm>
          <a:prstGeom prst="rect">
            <a:avLst/>
          </a:prstGeom>
          <a:noFill/>
        </p:spPr>
        <p:txBody>
          <a:bodyPr wrap="none" lIns="27432" rIns="27432" tIns="18288" bIns="18288" anchor="t">
            <a:spAutoFit/>
          </a:bodyPr>
          <a:lstStyle/>
          <a:p>
            <a:pPr algn="ctr">
              <a:defRPr sz="2300" b="1">
                <a:solidFill>
                  <a:srgbClr val="32659C"/>
                </a:solidFill>
                <a:latin typeface="Aptos"/>
              </a:defRPr>
            </a:pPr>
            <a:r>
              <a:t>Σk</a:t>
            </a:r>
          </a:p>
        </p:txBody>
      </p:sp>
      <p:sp>
        <p:nvSpPr>
          <p:cNvPr id="12" name="TextBox 11"/>
          <p:cNvSpPr txBox="1"/>
          <p:nvPr/>
        </p:nvSpPr>
        <p:spPr>
          <a:xfrm>
            <a:off x="7918704" y="3703320"/>
            <a:ext cx="2788920" cy="256032"/>
          </a:xfrm>
          <a:prstGeom prst="rect">
            <a:avLst/>
          </a:prstGeom>
          <a:noFill/>
        </p:spPr>
        <p:txBody>
          <a:bodyPr wrap="none" lIns="27432" rIns="27432" tIns="18288" bIns="18288" anchor="t">
            <a:spAutoFit/>
          </a:bodyPr>
          <a:lstStyle/>
          <a:p>
            <a:pPr algn="ctr">
              <a:defRPr sz="1400" b="0">
                <a:solidFill>
                  <a:srgbClr val="5F6D71"/>
                </a:solidFill>
                <a:latin typeface="Aptos"/>
              </a:defRPr>
            </a:pPr>
            <a:r>
              <a:t>component shape</a:t>
            </a:r>
          </a:p>
        </p:txBody>
      </p:sp>
      <p:sp>
        <p:nvSpPr>
          <p:cNvPr id="13" name="TextBox 12"/>
          <p:cNvSpPr txBox="1"/>
          <p:nvPr/>
        </p:nvSpPr>
        <p:spPr>
          <a:xfrm>
            <a:off x="1097280" y="5074920"/>
            <a:ext cx="9966960" cy="411480"/>
          </a:xfrm>
          <a:prstGeom prst="rect">
            <a:avLst/>
          </a:prstGeom>
          <a:noFill/>
        </p:spPr>
        <p:txBody>
          <a:bodyPr wrap="none" lIns="27432" rIns="27432" tIns="18288" bIns="18288" anchor="t">
            <a:spAutoFit/>
          </a:bodyPr>
          <a:lstStyle/>
          <a:p>
            <a:pPr algn="ctr">
              <a:defRPr sz="2000" b="1">
                <a:solidFill>
                  <a:srgbClr val="1F2A2E"/>
                </a:solidFill>
                <a:latin typeface="Aptos"/>
              </a:defRPr>
            </a:pPr>
            <a:r>
              <a:t>Hidden assignment zn selects the component that generated xn.</a:t>
            </a:r>
          </a:p>
        </p:txBody>
      </p:sp>
      <p:sp>
        <p:nvSpPr>
          <p:cNvPr id="14" name="TextBox 13"/>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EM alternates posterior inference and parameter learning</a:t>
            </a:r>
          </a:p>
        </p:txBody>
      </p:sp>
      <p:sp>
        <p:nvSpPr>
          <p:cNvPr id="3" name="Rounded Rectangle 2"/>
          <p:cNvSpPr/>
          <p:nvPr/>
        </p:nvSpPr>
        <p:spPr>
          <a:xfrm>
            <a:off x="914400" y="1600200"/>
            <a:ext cx="4800600" cy="320040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01952"/>
            <a:ext cx="685800" cy="685800"/>
          </a:xfrm>
          <a:prstGeom prst="rect">
            <a:avLst/>
          </a:prstGeom>
          <a:noFill/>
        </p:spPr>
        <p:txBody>
          <a:bodyPr wrap="none" lIns="27432" rIns="27432" tIns="18288" bIns="18288" anchor="t">
            <a:spAutoFit/>
          </a:bodyPr>
          <a:lstStyle/>
          <a:p>
            <a:pPr algn="ctr">
              <a:defRPr sz="3600" b="1">
                <a:solidFill>
                  <a:srgbClr val="00807A"/>
                </a:solidFill>
                <a:latin typeface="Aptos"/>
              </a:defRPr>
            </a:pPr>
            <a:r>
              <a:t>E</a:t>
            </a:r>
          </a:p>
        </p:txBody>
      </p:sp>
      <p:sp>
        <p:nvSpPr>
          <p:cNvPr id="5" name="TextBox 4"/>
          <p:cNvSpPr txBox="1"/>
          <p:nvPr/>
        </p:nvSpPr>
        <p:spPr>
          <a:xfrm>
            <a:off x="2057400" y="2011680"/>
            <a:ext cx="3246120" cy="384048"/>
          </a:xfrm>
          <a:prstGeom prst="rect">
            <a:avLst/>
          </a:prstGeom>
          <a:noFill/>
        </p:spPr>
        <p:txBody>
          <a:bodyPr wrap="none" lIns="27432" rIns="27432" tIns="18288" bIns="18288" anchor="t">
            <a:spAutoFit/>
          </a:bodyPr>
          <a:lstStyle/>
          <a:p>
            <a:pPr algn="l">
              <a:defRPr sz="2000" b="1">
                <a:solidFill>
                  <a:srgbClr val="1F2A2E"/>
                </a:solidFill>
                <a:latin typeface="Aptos"/>
              </a:defRPr>
            </a:pPr>
            <a:r>
              <a:t>Expectation step</a:t>
            </a:r>
          </a:p>
        </p:txBody>
      </p:sp>
      <p:sp>
        <p:nvSpPr>
          <p:cNvPr id="6" name="TextBox 5"/>
          <p:cNvSpPr txBox="1"/>
          <p:nvPr/>
        </p:nvSpPr>
        <p:spPr>
          <a:xfrm>
            <a:off x="1417320" y="3090672"/>
            <a:ext cx="3794760" cy="868680"/>
          </a:xfrm>
          <a:prstGeom prst="rect">
            <a:avLst/>
          </a:prstGeom>
          <a:noFill/>
        </p:spPr>
        <p:txBody>
          <a:bodyPr wrap="none" lIns="27432" rIns="27432" tIns="18288" bIns="18288" anchor="t">
            <a:spAutoFit/>
          </a:bodyPr>
          <a:lstStyle/>
          <a:p>
            <a:pPr algn="ctr">
              <a:defRPr sz="1700" b="0">
                <a:solidFill>
                  <a:srgbClr val="5F6D71"/>
                </a:solidFill>
                <a:latin typeface="Aptos"/>
              </a:defRPr>
            </a:pPr>
            <a:r>
              <a:t>Compute responsibilities</a:t>
            </a:r>
            <a:br/>
            <a:r>
              <a:t>rnk = p(zn = k | xn, θ)</a:t>
            </a:r>
          </a:p>
        </p:txBody>
      </p:sp>
      <p:sp>
        <p:nvSpPr>
          <p:cNvPr id="7" name="Rounded Rectangle 6"/>
          <p:cNvSpPr/>
          <p:nvPr/>
        </p:nvSpPr>
        <p:spPr>
          <a:xfrm>
            <a:off x="6492240" y="1600200"/>
            <a:ext cx="4800600" cy="320040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59" y="1901952"/>
            <a:ext cx="685800" cy="685800"/>
          </a:xfrm>
          <a:prstGeom prst="rect">
            <a:avLst/>
          </a:prstGeom>
          <a:noFill/>
        </p:spPr>
        <p:txBody>
          <a:bodyPr wrap="none" lIns="27432" rIns="27432" tIns="18288" bIns="18288" anchor="t">
            <a:spAutoFit/>
          </a:bodyPr>
          <a:lstStyle/>
          <a:p>
            <a:pPr algn="ctr">
              <a:defRPr sz="3600" b="1">
                <a:solidFill>
                  <a:srgbClr val="E07A3B"/>
                </a:solidFill>
                <a:latin typeface="Aptos"/>
              </a:defRPr>
            </a:pPr>
            <a:r>
              <a:t>M</a:t>
            </a:r>
          </a:p>
        </p:txBody>
      </p:sp>
      <p:sp>
        <p:nvSpPr>
          <p:cNvPr id="9" name="TextBox 8"/>
          <p:cNvSpPr txBox="1"/>
          <p:nvPr/>
        </p:nvSpPr>
        <p:spPr>
          <a:xfrm>
            <a:off x="7635240" y="2011680"/>
            <a:ext cx="3246120" cy="384048"/>
          </a:xfrm>
          <a:prstGeom prst="rect">
            <a:avLst/>
          </a:prstGeom>
          <a:noFill/>
        </p:spPr>
        <p:txBody>
          <a:bodyPr wrap="none" lIns="27432" rIns="27432" tIns="18288" bIns="18288" anchor="t">
            <a:spAutoFit/>
          </a:bodyPr>
          <a:lstStyle/>
          <a:p>
            <a:pPr algn="l">
              <a:defRPr sz="2000" b="1">
                <a:solidFill>
                  <a:srgbClr val="1F2A2E"/>
                </a:solidFill>
                <a:latin typeface="Aptos"/>
              </a:defRPr>
            </a:pPr>
            <a:r>
              <a:t>Maximization step</a:t>
            </a:r>
          </a:p>
        </p:txBody>
      </p:sp>
      <p:sp>
        <p:nvSpPr>
          <p:cNvPr id="10" name="TextBox 9"/>
          <p:cNvSpPr txBox="1"/>
          <p:nvPr/>
        </p:nvSpPr>
        <p:spPr>
          <a:xfrm>
            <a:off x="6995159" y="3090672"/>
            <a:ext cx="3794760" cy="868680"/>
          </a:xfrm>
          <a:prstGeom prst="rect">
            <a:avLst/>
          </a:prstGeom>
          <a:noFill/>
        </p:spPr>
        <p:txBody>
          <a:bodyPr wrap="none" lIns="27432" rIns="27432" tIns="18288" bIns="18288" anchor="t">
            <a:spAutoFit/>
          </a:bodyPr>
          <a:lstStyle/>
          <a:p>
            <a:pPr algn="ctr">
              <a:defRPr sz="1700" b="0">
                <a:solidFill>
                  <a:srgbClr val="5F6D71"/>
                </a:solidFill>
                <a:latin typeface="Aptos"/>
              </a:defRPr>
            </a:pPr>
            <a:r>
              <a:t>Refit π, μ, Σ using</a:t>
            </a:r>
            <a:br/>
            <a:r>
              <a:t>posterior-weighted statistics</a:t>
            </a:r>
          </a:p>
        </p:txBody>
      </p:sp>
      <p:sp>
        <p:nvSpPr>
          <p:cNvPr id="11" name="TextBox 10"/>
          <p:cNvSpPr txBox="1"/>
          <p:nvPr/>
        </p:nvSpPr>
        <p:spPr>
          <a:xfrm>
            <a:off x="5715000" y="2743200"/>
            <a:ext cx="731520" cy="457200"/>
          </a:xfrm>
          <a:prstGeom prst="rect">
            <a:avLst/>
          </a:prstGeom>
          <a:noFill/>
        </p:spPr>
        <p:txBody>
          <a:bodyPr wrap="none" lIns="27432" rIns="27432" tIns="18288" bIns="18288" anchor="t">
            <a:spAutoFit/>
          </a:bodyPr>
          <a:lstStyle/>
          <a:p>
            <a:pPr algn="ctr">
              <a:defRPr sz="3200" b="1">
                <a:solidFill>
                  <a:srgbClr val="1F2A2E"/>
                </a:solidFill>
                <a:latin typeface="Aptos"/>
              </a:defRPr>
            </a:pPr>
            <a:r>
              <a:t>↔</a:t>
            </a:r>
          </a:p>
        </p:txBody>
      </p:sp>
      <p:sp>
        <p:nvSpPr>
          <p:cNvPr id="12" name="TextBox 11"/>
          <p:cNvSpPr txBox="1"/>
          <p:nvPr/>
        </p:nvSpPr>
        <p:spPr>
          <a:xfrm>
            <a:off x="1097280" y="5486400"/>
            <a:ext cx="9966960" cy="347472"/>
          </a:xfrm>
          <a:prstGeom prst="rect">
            <a:avLst/>
          </a:prstGeom>
          <a:noFill/>
        </p:spPr>
        <p:txBody>
          <a:bodyPr wrap="none" lIns="27432" rIns="27432" tIns="18288" bIns="18288" anchor="t">
            <a:spAutoFit/>
          </a:bodyPr>
          <a:lstStyle/>
          <a:p>
            <a:pPr algn="ctr">
              <a:defRPr sz="1700" b="1">
                <a:solidFill>
                  <a:srgbClr val="1F2A2E"/>
                </a:solidFill>
                <a:latin typeface="Aptos"/>
              </a:defRPr>
            </a:pPr>
            <a:r>
              <a:t>Each full iteration does not decrease the data log likelihood.</a:t>
            </a:r>
          </a:p>
        </p:txBody>
      </p:sp>
      <p:sp>
        <p:nvSpPr>
          <p:cNvPr id="13" name="TextBox 12"/>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Soft assignments preserve uncertainty</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ponsibilities.png"/>
          <p:cNvPicPr>
            <a:picLocks noChangeAspect="1"/>
          </p:cNvPicPr>
          <p:nvPr/>
        </p:nvPicPr>
        <p:blipFill>
          <a:blip r:embed="rId2"/>
          <a:stretch>
            <a:fillRect/>
          </a:stretch>
        </p:blipFill>
        <p:spPr>
          <a:xfrm>
            <a:off x="822960" y="1543573"/>
            <a:ext cx="10561320" cy="3944589"/>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Color mixtures represent posterior responsibilities; the right panel shows assignment confidence.</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02b_mixtures_em.ipynb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EM is coordinate ascent on a lower bound</a:t>
            </a:r>
          </a:p>
        </p:txBody>
      </p:sp>
      <p:pic>
        <p:nvPicPr>
          <p:cNvPr id="3" name="Picture 2" descr="eq_elbo.png"/>
          <p:cNvPicPr>
            <a:picLocks noChangeAspect="1"/>
          </p:cNvPicPr>
          <p:nvPr/>
        </p:nvPicPr>
        <p:blipFill>
          <a:blip r:embed="rId2"/>
          <a:stretch>
            <a:fillRect/>
          </a:stretch>
        </p:blipFill>
        <p:spPr>
          <a:xfrm>
            <a:off x="943983" y="1234440"/>
            <a:ext cx="10273552" cy="1005840"/>
          </a:xfrm>
          <a:prstGeom prst="rect">
            <a:avLst/>
          </a:prstGeom>
        </p:spPr>
      </p:pic>
      <p:sp>
        <p:nvSpPr>
          <p:cNvPr id="4" name="Rounded Rectangle 3"/>
          <p:cNvSpPr/>
          <p:nvPr/>
        </p:nvSpPr>
        <p:spPr>
          <a:xfrm>
            <a:off x="868680" y="2743200"/>
            <a:ext cx="3794760" cy="150876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044952"/>
            <a:ext cx="3337560" cy="365760"/>
          </a:xfrm>
          <a:prstGeom prst="rect">
            <a:avLst/>
          </a:prstGeom>
          <a:noFill/>
        </p:spPr>
        <p:txBody>
          <a:bodyPr wrap="none" lIns="27432" rIns="27432" tIns="18288" bIns="18288" anchor="t">
            <a:spAutoFit/>
          </a:bodyPr>
          <a:lstStyle/>
          <a:p>
            <a:pPr algn="ctr">
              <a:defRPr sz="2000" b="1">
                <a:solidFill>
                  <a:srgbClr val="00807A"/>
                </a:solidFill>
                <a:latin typeface="Aptos"/>
              </a:defRPr>
            </a:pPr>
            <a:r>
              <a:t>ELBO</a:t>
            </a:r>
          </a:p>
        </p:txBody>
      </p:sp>
      <p:sp>
        <p:nvSpPr>
          <p:cNvPr id="6" name="TextBox 5"/>
          <p:cNvSpPr txBox="1"/>
          <p:nvPr/>
        </p:nvSpPr>
        <p:spPr>
          <a:xfrm>
            <a:off x="1097280" y="3675887"/>
            <a:ext cx="3337560" cy="256032"/>
          </a:xfrm>
          <a:prstGeom prst="rect">
            <a:avLst/>
          </a:prstGeom>
          <a:noFill/>
        </p:spPr>
        <p:txBody>
          <a:bodyPr wrap="none" lIns="27432" rIns="27432" tIns="18288" bIns="18288" anchor="t">
            <a:spAutoFit/>
          </a:bodyPr>
          <a:lstStyle/>
          <a:p>
            <a:pPr algn="ctr">
              <a:defRPr sz="1400" b="0">
                <a:solidFill>
                  <a:srgbClr val="5F6D71"/>
                </a:solidFill>
                <a:latin typeface="Aptos"/>
              </a:defRPr>
            </a:pPr>
            <a:r>
              <a:t>tractable objective</a:t>
            </a:r>
          </a:p>
        </p:txBody>
      </p:sp>
      <p:sp>
        <p:nvSpPr>
          <p:cNvPr id="7" name="TextBox 6"/>
          <p:cNvSpPr txBox="1"/>
          <p:nvPr/>
        </p:nvSpPr>
        <p:spPr>
          <a:xfrm>
            <a:off x="4526280" y="3090672"/>
            <a:ext cx="457200" cy="457200"/>
          </a:xfrm>
          <a:prstGeom prst="rect">
            <a:avLst/>
          </a:prstGeom>
          <a:noFill/>
        </p:spPr>
        <p:txBody>
          <a:bodyPr wrap="none" lIns="27432" rIns="27432" tIns="18288" bIns="18288" anchor="t">
            <a:spAutoFit/>
          </a:bodyPr>
          <a:lstStyle/>
          <a:p>
            <a:pPr algn="ctr">
              <a:defRPr sz="3200" b="1">
                <a:solidFill>
                  <a:srgbClr val="5F6D71"/>
                </a:solidFill>
                <a:latin typeface="Aptos"/>
              </a:defRPr>
            </a:pPr>
            <a:r>
              <a:t>+</a:t>
            </a:r>
          </a:p>
        </p:txBody>
      </p:sp>
      <p:sp>
        <p:nvSpPr>
          <p:cNvPr id="8" name="Rounded Rectangle 7"/>
          <p:cNvSpPr/>
          <p:nvPr/>
        </p:nvSpPr>
        <p:spPr>
          <a:xfrm>
            <a:off x="5623560" y="2743200"/>
            <a:ext cx="3794760" cy="150876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0" y="3044952"/>
            <a:ext cx="3337560" cy="365760"/>
          </a:xfrm>
          <a:prstGeom prst="rect">
            <a:avLst/>
          </a:prstGeom>
          <a:noFill/>
        </p:spPr>
        <p:txBody>
          <a:bodyPr wrap="none" lIns="27432" rIns="27432" tIns="18288" bIns="18288" anchor="t">
            <a:spAutoFit/>
          </a:bodyPr>
          <a:lstStyle/>
          <a:p>
            <a:pPr algn="ctr">
              <a:defRPr sz="2000" b="1">
                <a:solidFill>
                  <a:srgbClr val="E07A3B"/>
                </a:solidFill>
                <a:latin typeface="Aptos"/>
              </a:defRPr>
            </a:pPr>
            <a:r>
              <a:t>KL gap</a:t>
            </a:r>
          </a:p>
        </p:txBody>
      </p:sp>
      <p:sp>
        <p:nvSpPr>
          <p:cNvPr id="10" name="TextBox 9"/>
          <p:cNvSpPr txBox="1"/>
          <p:nvPr/>
        </p:nvSpPr>
        <p:spPr>
          <a:xfrm>
            <a:off x="5852160" y="3675887"/>
            <a:ext cx="3337560" cy="256032"/>
          </a:xfrm>
          <a:prstGeom prst="rect">
            <a:avLst/>
          </a:prstGeom>
          <a:noFill/>
        </p:spPr>
        <p:txBody>
          <a:bodyPr wrap="none" lIns="27432" rIns="27432" tIns="18288" bIns="18288" anchor="t">
            <a:spAutoFit/>
          </a:bodyPr>
          <a:lstStyle/>
          <a:p>
            <a:pPr algn="ctr">
              <a:defRPr sz="1400" b="0">
                <a:solidFill>
                  <a:srgbClr val="5F6D71"/>
                </a:solidFill>
                <a:latin typeface="Aptos"/>
              </a:defRPr>
            </a:pPr>
            <a:r>
              <a:t>posterior approximation error</a:t>
            </a:r>
          </a:p>
        </p:txBody>
      </p:sp>
      <p:sp>
        <p:nvSpPr>
          <p:cNvPr id="11" name="TextBox 10"/>
          <p:cNvSpPr txBox="1"/>
          <p:nvPr/>
        </p:nvSpPr>
        <p:spPr>
          <a:xfrm>
            <a:off x="914400" y="5166360"/>
            <a:ext cx="10332720" cy="384048"/>
          </a:xfrm>
          <a:prstGeom prst="rect">
            <a:avLst/>
          </a:prstGeom>
          <a:noFill/>
        </p:spPr>
        <p:txBody>
          <a:bodyPr wrap="none" lIns="27432" rIns="27432" tIns="18288" bIns="18288" anchor="t">
            <a:spAutoFit/>
          </a:bodyPr>
          <a:lstStyle/>
          <a:p>
            <a:pPr algn="ctr">
              <a:defRPr sz="1800" b="1">
                <a:solidFill>
                  <a:srgbClr val="1F2A2E"/>
                </a:solidFill>
                <a:latin typeface="Aptos"/>
              </a:defRPr>
            </a:pPr>
            <a:r>
              <a:t>Exact E-step: q(z) = p(z | x, θ), so the KL gap becomes zero.</a:t>
            </a:r>
          </a:p>
        </p:txBody>
      </p:sp>
      <p:sp>
        <p:nvSpPr>
          <p:cNvPr id="12" name="TextBox 11"/>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EM produces a fitted density, not only labels</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ixture_em.png"/>
          <p:cNvPicPr>
            <a:picLocks noChangeAspect="1"/>
          </p:cNvPicPr>
          <p:nvPr/>
        </p:nvPicPr>
        <p:blipFill>
          <a:blip r:embed="rId2"/>
          <a:stretch>
            <a:fillRect/>
          </a:stretch>
        </p:blipFill>
        <p:spPr>
          <a:xfrm>
            <a:off x="822959" y="1565687"/>
            <a:ext cx="10561320" cy="3900361"/>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Left: recovered Gaussian geometry. Right: monotonic observed-data log likelihood.</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02b_mixtures_em.ipynb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What a mixture model cannot represent</a:t>
            </a:r>
          </a:p>
        </p:txBody>
      </p:sp>
      <p:sp>
        <p:nvSpPr>
          <p:cNvPr id="3" name="TextBox 2"/>
          <p:cNvSpPr txBox="1"/>
          <p:nvPr/>
        </p:nvSpPr>
        <p:spPr>
          <a:xfrm>
            <a:off x="822960" y="1325880"/>
            <a:ext cx="2834640" cy="457200"/>
          </a:xfrm>
          <a:prstGeom prst="rect">
            <a:avLst/>
          </a:prstGeom>
          <a:noFill/>
        </p:spPr>
        <p:txBody>
          <a:bodyPr wrap="none" lIns="27432" rIns="27432" tIns="18288" bIns="18288" anchor="t">
            <a:spAutoFit/>
          </a:bodyPr>
          <a:lstStyle/>
          <a:p>
            <a:pPr algn="l">
              <a:defRPr sz="2300" b="1">
                <a:solidFill>
                  <a:srgbClr val="E07A3B"/>
                </a:solidFill>
                <a:latin typeface="Aptos"/>
              </a:defRPr>
            </a:pPr>
            <a:r>
              <a:t>Exchangeability</a:t>
            </a:r>
          </a:p>
        </p:txBody>
      </p:sp>
      <p:sp>
        <p:nvSpPr>
          <p:cNvPr id="4" name="TextBox 3"/>
          <p:cNvSpPr txBox="1"/>
          <p:nvPr/>
        </p:nvSpPr>
        <p:spPr>
          <a:xfrm>
            <a:off x="841248" y="1965960"/>
            <a:ext cx="4480560" cy="777240"/>
          </a:xfrm>
          <a:prstGeom prst="rect">
            <a:avLst/>
          </a:prstGeom>
          <a:noFill/>
        </p:spPr>
        <p:txBody>
          <a:bodyPr wrap="none" lIns="27432" rIns="27432" tIns="18288" bIns="18288" anchor="t">
            <a:spAutoFit/>
          </a:bodyPr>
          <a:lstStyle/>
          <a:p>
            <a:pPr algn="l">
              <a:defRPr sz="1600" b="0">
                <a:solidFill>
                  <a:srgbClr val="1F2A2E"/>
                </a:solidFill>
                <a:latin typeface="Aptos"/>
              </a:defRPr>
            </a:pPr>
            <a:r>
              <a:t>The model gives the same probability after</a:t>
            </a:r>
            <a:br/>
            <a:r>
              <a:t>any permutation of observations.</a:t>
            </a:r>
          </a:p>
        </p:txBody>
      </p:sp>
      <p:sp>
        <p:nvSpPr>
          <p:cNvPr id="5" name="Oval 4"/>
          <p:cNvSpPr/>
          <p:nvPr/>
        </p:nvSpPr>
        <p:spPr>
          <a:xfrm>
            <a:off x="5989320" y="1920240"/>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702552" y="1920240"/>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15783" y="1920240"/>
            <a:ext cx="438912" cy="438912"/>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29016" y="1920240"/>
            <a:ext cx="438912" cy="438912"/>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42248" y="1920240"/>
            <a:ext cx="438912" cy="438912"/>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55480" y="1920240"/>
            <a:ext cx="438912" cy="438912"/>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68712" y="1920240"/>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2743200"/>
            <a:ext cx="2468880" cy="320040"/>
          </a:xfrm>
          <a:prstGeom prst="rect">
            <a:avLst/>
          </a:prstGeom>
          <a:noFill/>
        </p:spPr>
        <p:txBody>
          <a:bodyPr wrap="none" lIns="27432" rIns="27432" tIns="18288" bIns="18288" anchor="t">
            <a:spAutoFit/>
          </a:bodyPr>
          <a:lstStyle/>
          <a:p>
            <a:pPr algn="ctr">
              <a:defRPr sz="1500" b="0">
                <a:solidFill>
                  <a:srgbClr val="5F6D71"/>
                </a:solidFill>
                <a:latin typeface="Aptos"/>
              </a:defRPr>
            </a:pPr>
            <a:r>
              <a:t>same histogram</a:t>
            </a:r>
          </a:p>
        </p:txBody>
      </p:sp>
      <p:sp>
        <p:nvSpPr>
          <p:cNvPr id="13" name="TextBox 12"/>
          <p:cNvSpPr txBox="1"/>
          <p:nvPr/>
        </p:nvSpPr>
        <p:spPr>
          <a:xfrm>
            <a:off x="5669280" y="3794760"/>
            <a:ext cx="457200" cy="457200"/>
          </a:xfrm>
          <a:prstGeom prst="rect">
            <a:avLst/>
          </a:prstGeom>
          <a:noFill/>
        </p:spPr>
        <p:txBody>
          <a:bodyPr wrap="none" lIns="27432" rIns="27432" tIns="18288" bIns="18288" anchor="t">
            <a:spAutoFit/>
          </a:bodyPr>
          <a:lstStyle/>
          <a:p>
            <a:pPr algn="ctr">
              <a:defRPr sz="3000" b="1">
                <a:solidFill>
                  <a:srgbClr val="1F2A2E"/>
                </a:solidFill>
                <a:latin typeface="Aptos"/>
              </a:defRPr>
            </a:pPr>
            <a:r>
              <a:t>≠</a:t>
            </a:r>
          </a:p>
        </p:txBody>
      </p:sp>
      <p:sp>
        <p:nvSpPr>
          <p:cNvPr id="14" name="Oval 13"/>
          <p:cNvSpPr/>
          <p:nvPr/>
        </p:nvSpPr>
        <p:spPr>
          <a:xfrm>
            <a:off x="5989320" y="3858768"/>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02552" y="3858768"/>
            <a:ext cx="438912" cy="438912"/>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15783" y="3858768"/>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29016" y="3858768"/>
            <a:ext cx="438912" cy="438912"/>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842248" y="3858768"/>
            <a:ext cx="438912" cy="438912"/>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3858768"/>
            <a:ext cx="438912" cy="438912"/>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268712" y="3858768"/>
            <a:ext cx="438912" cy="438912"/>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20" y="4681728"/>
            <a:ext cx="2651760" cy="320040"/>
          </a:xfrm>
          <a:prstGeom prst="rect">
            <a:avLst/>
          </a:prstGeom>
          <a:noFill/>
        </p:spPr>
        <p:txBody>
          <a:bodyPr wrap="none" lIns="27432" rIns="27432" tIns="18288" bIns="18288" anchor="t">
            <a:spAutoFit/>
          </a:bodyPr>
          <a:lstStyle/>
          <a:p>
            <a:pPr algn="ctr">
              <a:defRPr sz="1500" b="0">
                <a:solidFill>
                  <a:srgbClr val="5F6D71"/>
                </a:solidFill>
                <a:latin typeface="Aptos"/>
              </a:defRPr>
            </a:pPr>
            <a:r>
              <a:t>different sequence</a:t>
            </a:r>
          </a:p>
        </p:txBody>
      </p:sp>
      <p:sp>
        <p:nvSpPr>
          <p:cNvPr id="22" name="TextBox 21"/>
          <p:cNvSpPr txBox="1"/>
          <p:nvPr/>
        </p:nvSpPr>
        <p:spPr>
          <a:xfrm>
            <a:off x="822960" y="5257800"/>
            <a:ext cx="10515600" cy="411480"/>
          </a:xfrm>
          <a:prstGeom prst="rect">
            <a:avLst/>
          </a:prstGeom>
          <a:noFill/>
        </p:spPr>
        <p:txBody>
          <a:bodyPr wrap="none" lIns="27432" rIns="27432" tIns="18288" bIns="18288" anchor="t">
            <a:spAutoFit/>
          </a:bodyPr>
          <a:lstStyle/>
          <a:p>
            <a:pPr algn="ctr">
              <a:defRPr sz="2000" b="1">
                <a:solidFill>
                  <a:srgbClr val="00807A"/>
                </a:solidFill>
                <a:latin typeface="Aptos"/>
              </a:defRPr>
            </a:pPr>
            <a:r>
              <a:t>To model persistence, switching, and prediction, z must depend on its history.</a:t>
            </a:r>
          </a:p>
        </p:txBody>
      </p:sp>
      <p:sp>
        <p:nvSpPr>
          <p:cNvPr id="23" name="TextBox 22"/>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3</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Hidden Markov models</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Discrete latent states with temporal persistence</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3</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An HMM adds a Markov chain to a mixture</a:t>
            </a:r>
          </a:p>
        </p:txBody>
      </p:sp>
      <p:pic>
        <p:nvPicPr>
          <p:cNvPr id="3" name="Picture 2" descr="eq_hmm.png"/>
          <p:cNvPicPr>
            <a:picLocks noChangeAspect="1"/>
          </p:cNvPicPr>
          <p:nvPr/>
        </p:nvPicPr>
        <p:blipFill>
          <a:blip r:embed="rId2"/>
          <a:stretch>
            <a:fillRect/>
          </a:stretch>
        </p:blipFill>
        <p:spPr>
          <a:xfrm>
            <a:off x="2061608" y="1097280"/>
            <a:ext cx="8038302" cy="1005840"/>
          </a:xfrm>
          <a:prstGeom prst="rect">
            <a:avLst/>
          </a:prstGeom>
        </p:spPr>
      </p:pic>
      <p:sp>
        <p:nvSpPr>
          <p:cNvPr id="4" name="Oval 3"/>
          <p:cNvSpPr/>
          <p:nvPr/>
        </p:nvSpPr>
        <p:spPr>
          <a:xfrm>
            <a:off x="1143000" y="2743200"/>
            <a:ext cx="676656" cy="676656"/>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6152" y="29169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z1</a:t>
            </a:r>
          </a:p>
        </p:txBody>
      </p:sp>
      <p:sp>
        <p:nvSpPr>
          <p:cNvPr id="6" name="Rectangle 5"/>
          <p:cNvSpPr/>
          <p:nvPr/>
        </p:nvSpPr>
        <p:spPr>
          <a:xfrm>
            <a:off x="1143000" y="4343400"/>
            <a:ext cx="676656" cy="676656"/>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6152" y="45171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x1</a:t>
            </a:r>
          </a:p>
        </p:txBody>
      </p:sp>
      <p:sp>
        <p:nvSpPr>
          <p:cNvPr id="8" name="TextBox 7"/>
          <p:cNvSpPr txBox="1"/>
          <p:nvPr/>
        </p:nvSpPr>
        <p:spPr>
          <a:xfrm>
            <a:off x="1298448" y="3657600"/>
            <a:ext cx="365760" cy="329184"/>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9" name="TextBox 8"/>
          <p:cNvSpPr txBox="1"/>
          <p:nvPr/>
        </p:nvSpPr>
        <p:spPr>
          <a:xfrm>
            <a:off x="2148840" y="2907792"/>
            <a:ext cx="502920" cy="274320"/>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10" name="Oval 9"/>
          <p:cNvSpPr/>
          <p:nvPr/>
        </p:nvSpPr>
        <p:spPr>
          <a:xfrm>
            <a:off x="3154680" y="2743200"/>
            <a:ext cx="676656" cy="676656"/>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27832" y="29169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z2</a:t>
            </a:r>
          </a:p>
        </p:txBody>
      </p:sp>
      <p:sp>
        <p:nvSpPr>
          <p:cNvPr id="12" name="Rectangle 11"/>
          <p:cNvSpPr/>
          <p:nvPr/>
        </p:nvSpPr>
        <p:spPr>
          <a:xfrm>
            <a:off x="3154680" y="4343400"/>
            <a:ext cx="676656" cy="676656"/>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7832" y="45171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x2</a:t>
            </a:r>
          </a:p>
        </p:txBody>
      </p:sp>
      <p:sp>
        <p:nvSpPr>
          <p:cNvPr id="14" name="TextBox 13"/>
          <p:cNvSpPr txBox="1"/>
          <p:nvPr/>
        </p:nvSpPr>
        <p:spPr>
          <a:xfrm>
            <a:off x="3310128" y="3657600"/>
            <a:ext cx="365760" cy="329184"/>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15" name="TextBox 14"/>
          <p:cNvSpPr txBox="1"/>
          <p:nvPr/>
        </p:nvSpPr>
        <p:spPr>
          <a:xfrm>
            <a:off x="4160520" y="2907792"/>
            <a:ext cx="502920" cy="274320"/>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16" name="Oval 15"/>
          <p:cNvSpPr/>
          <p:nvPr/>
        </p:nvSpPr>
        <p:spPr>
          <a:xfrm>
            <a:off x="5166360" y="2743200"/>
            <a:ext cx="676656" cy="676656"/>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9512" y="29169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z3</a:t>
            </a:r>
          </a:p>
        </p:txBody>
      </p:sp>
      <p:sp>
        <p:nvSpPr>
          <p:cNvPr id="18" name="Rectangle 17"/>
          <p:cNvSpPr/>
          <p:nvPr/>
        </p:nvSpPr>
        <p:spPr>
          <a:xfrm>
            <a:off x="5166360" y="4343400"/>
            <a:ext cx="676656" cy="676656"/>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9512" y="45171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x3</a:t>
            </a:r>
          </a:p>
        </p:txBody>
      </p:sp>
      <p:sp>
        <p:nvSpPr>
          <p:cNvPr id="20" name="TextBox 19"/>
          <p:cNvSpPr txBox="1"/>
          <p:nvPr/>
        </p:nvSpPr>
        <p:spPr>
          <a:xfrm>
            <a:off x="5321808" y="3657600"/>
            <a:ext cx="365760" cy="329184"/>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21" name="TextBox 20"/>
          <p:cNvSpPr txBox="1"/>
          <p:nvPr/>
        </p:nvSpPr>
        <p:spPr>
          <a:xfrm>
            <a:off x="6172200" y="2907792"/>
            <a:ext cx="502920" cy="274320"/>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22" name="Oval 21"/>
          <p:cNvSpPr/>
          <p:nvPr/>
        </p:nvSpPr>
        <p:spPr>
          <a:xfrm>
            <a:off x="7178040" y="2743200"/>
            <a:ext cx="676656" cy="676656"/>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51192" y="29169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z4</a:t>
            </a:r>
          </a:p>
        </p:txBody>
      </p:sp>
      <p:sp>
        <p:nvSpPr>
          <p:cNvPr id="24" name="Rectangle 23"/>
          <p:cNvSpPr/>
          <p:nvPr/>
        </p:nvSpPr>
        <p:spPr>
          <a:xfrm>
            <a:off x="7178040" y="4343400"/>
            <a:ext cx="676656" cy="676656"/>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1192" y="45171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x4</a:t>
            </a:r>
          </a:p>
        </p:txBody>
      </p:sp>
      <p:sp>
        <p:nvSpPr>
          <p:cNvPr id="26" name="TextBox 25"/>
          <p:cNvSpPr txBox="1"/>
          <p:nvPr/>
        </p:nvSpPr>
        <p:spPr>
          <a:xfrm>
            <a:off x="7333488" y="3657600"/>
            <a:ext cx="365760" cy="329184"/>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27" name="TextBox 26"/>
          <p:cNvSpPr txBox="1"/>
          <p:nvPr/>
        </p:nvSpPr>
        <p:spPr>
          <a:xfrm>
            <a:off x="8183880" y="2907792"/>
            <a:ext cx="502920" cy="274320"/>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28" name="Oval 27"/>
          <p:cNvSpPr/>
          <p:nvPr/>
        </p:nvSpPr>
        <p:spPr>
          <a:xfrm>
            <a:off x="9189720" y="2743200"/>
            <a:ext cx="676656" cy="676656"/>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62872" y="29169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z5</a:t>
            </a:r>
          </a:p>
        </p:txBody>
      </p:sp>
      <p:sp>
        <p:nvSpPr>
          <p:cNvPr id="30" name="Rectangle 29"/>
          <p:cNvSpPr/>
          <p:nvPr/>
        </p:nvSpPr>
        <p:spPr>
          <a:xfrm>
            <a:off x="9189720" y="4343400"/>
            <a:ext cx="676656" cy="676656"/>
          </a:xfrm>
          <a:prstGeom prst="rect">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62872" y="4517136"/>
            <a:ext cx="530352" cy="228600"/>
          </a:xfrm>
          <a:prstGeom prst="rect">
            <a:avLst/>
          </a:prstGeom>
          <a:noFill/>
        </p:spPr>
        <p:txBody>
          <a:bodyPr wrap="none" lIns="27432" rIns="27432" tIns="18288" bIns="18288" anchor="t">
            <a:spAutoFit/>
          </a:bodyPr>
          <a:lstStyle/>
          <a:p>
            <a:pPr algn="ctr">
              <a:defRPr sz="1400" b="1">
                <a:solidFill>
                  <a:srgbClr val="FFFFFF"/>
                </a:solidFill>
                <a:latin typeface="Aptos"/>
              </a:defRPr>
            </a:pPr>
            <a:r>
              <a:t>x5</a:t>
            </a:r>
          </a:p>
        </p:txBody>
      </p:sp>
      <p:sp>
        <p:nvSpPr>
          <p:cNvPr id="32" name="TextBox 31"/>
          <p:cNvSpPr txBox="1"/>
          <p:nvPr/>
        </p:nvSpPr>
        <p:spPr>
          <a:xfrm>
            <a:off x="9345168" y="3657600"/>
            <a:ext cx="365760" cy="329184"/>
          </a:xfrm>
          <a:prstGeom prst="rect">
            <a:avLst/>
          </a:prstGeom>
          <a:noFill/>
        </p:spPr>
        <p:txBody>
          <a:bodyPr wrap="none" lIns="27432" rIns="27432" tIns="18288" bIns="18288" anchor="t">
            <a:spAutoFit/>
          </a:bodyPr>
          <a:lstStyle/>
          <a:p>
            <a:pPr algn="ctr">
              <a:defRPr sz="2000" b="1">
                <a:solidFill>
                  <a:srgbClr val="5F6D71"/>
                </a:solidFill>
                <a:latin typeface="Aptos"/>
              </a:defRPr>
            </a:pPr>
            <a:r>
              <a:t>↓</a:t>
            </a:r>
          </a:p>
        </p:txBody>
      </p:sp>
      <p:sp>
        <p:nvSpPr>
          <p:cNvPr id="33" name="TextBox 32"/>
          <p:cNvSpPr txBox="1"/>
          <p:nvPr/>
        </p:nvSpPr>
        <p:spPr>
          <a:xfrm>
            <a:off x="4023360" y="2286000"/>
            <a:ext cx="3657600" cy="274320"/>
          </a:xfrm>
          <a:prstGeom prst="rect">
            <a:avLst/>
          </a:prstGeom>
          <a:noFill/>
        </p:spPr>
        <p:txBody>
          <a:bodyPr wrap="none" lIns="27432" rIns="27432" tIns="18288" bIns="18288" anchor="t">
            <a:spAutoFit/>
          </a:bodyPr>
          <a:lstStyle/>
          <a:p>
            <a:pPr algn="ctr">
              <a:defRPr sz="1300" b="1">
                <a:solidFill>
                  <a:srgbClr val="00807A"/>
                </a:solidFill>
                <a:latin typeface="Aptos"/>
              </a:defRPr>
            </a:pPr>
            <a:r>
              <a:t>transition model</a:t>
            </a:r>
          </a:p>
        </p:txBody>
      </p:sp>
      <p:sp>
        <p:nvSpPr>
          <p:cNvPr id="34" name="TextBox 33"/>
          <p:cNvSpPr txBox="1"/>
          <p:nvPr/>
        </p:nvSpPr>
        <p:spPr>
          <a:xfrm>
            <a:off x="4160520" y="5230368"/>
            <a:ext cx="3383280" cy="274320"/>
          </a:xfrm>
          <a:prstGeom prst="rect">
            <a:avLst/>
          </a:prstGeom>
          <a:noFill/>
        </p:spPr>
        <p:txBody>
          <a:bodyPr wrap="none" lIns="27432" rIns="27432" tIns="18288" bIns="18288" anchor="t">
            <a:spAutoFit/>
          </a:bodyPr>
          <a:lstStyle/>
          <a:p>
            <a:pPr algn="ctr">
              <a:defRPr sz="1300" b="1">
                <a:solidFill>
                  <a:srgbClr val="32659C"/>
                </a:solidFill>
                <a:latin typeface="Aptos"/>
              </a:defRPr>
            </a:pPr>
            <a:r>
              <a:t>emission model</a:t>
            </a:r>
          </a:p>
        </p:txBody>
      </p:sp>
      <p:sp>
        <p:nvSpPr>
          <p:cNvPr id="35" name="TextBox 34"/>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Dynamic programming makes exact sequence inference possible</a:t>
            </a:r>
          </a:p>
        </p:txBody>
      </p:sp>
      <p:sp>
        <p:nvSpPr>
          <p:cNvPr id="3" name="Rounded Rectangle 2"/>
          <p:cNvSpPr/>
          <p:nvPr/>
        </p:nvSpPr>
        <p:spPr>
          <a:xfrm>
            <a:off x="713232" y="1417320"/>
            <a:ext cx="5285232" cy="292608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1783080"/>
            <a:ext cx="4709160" cy="347472"/>
          </a:xfrm>
          <a:prstGeom prst="rect">
            <a:avLst/>
          </a:prstGeom>
          <a:noFill/>
        </p:spPr>
        <p:txBody>
          <a:bodyPr wrap="none" lIns="27432" rIns="27432" tIns="18288" bIns="18288" anchor="t">
            <a:spAutoFit/>
          </a:bodyPr>
          <a:lstStyle/>
          <a:p>
            <a:pPr algn="ctr">
              <a:defRPr sz="1900" b="1">
                <a:solidFill>
                  <a:srgbClr val="32659C"/>
                </a:solidFill>
                <a:latin typeface="Aptos"/>
              </a:defRPr>
            </a:pPr>
            <a:r>
              <a:t>Forward message</a:t>
            </a:r>
          </a:p>
        </p:txBody>
      </p:sp>
      <p:sp>
        <p:nvSpPr>
          <p:cNvPr id="5" name="TextBox 4"/>
          <p:cNvSpPr txBox="1"/>
          <p:nvPr/>
        </p:nvSpPr>
        <p:spPr>
          <a:xfrm>
            <a:off x="1078992" y="2578608"/>
            <a:ext cx="4526280" cy="566928"/>
          </a:xfrm>
          <a:prstGeom prst="rect">
            <a:avLst/>
          </a:prstGeom>
          <a:noFill/>
        </p:spPr>
        <p:txBody>
          <a:bodyPr wrap="none" lIns="27432" rIns="27432" tIns="18288" bIns="18288" anchor="t">
            <a:spAutoFit/>
          </a:bodyPr>
          <a:lstStyle/>
          <a:p>
            <a:pPr algn="ctr">
              <a:defRPr sz="1600" b="0">
                <a:solidFill>
                  <a:srgbClr val="1F2A2E"/>
                </a:solidFill>
                <a:latin typeface="Aptos"/>
              </a:defRPr>
            </a:pPr>
            <a:r>
              <a:t>αt(k) ∝ p(xt | k) Σj αt−1(j) Ajk</a:t>
            </a:r>
          </a:p>
        </p:txBody>
      </p:sp>
      <p:sp>
        <p:nvSpPr>
          <p:cNvPr id="6" name="TextBox 5"/>
          <p:cNvSpPr txBox="1"/>
          <p:nvPr/>
        </p:nvSpPr>
        <p:spPr>
          <a:xfrm>
            <a:off x="1033271" y="3566160"/>
            <a:ext cx="4645152" cy="320040"/>
          </a:xfrm>
          <a:prstGeom prst="rect">
            <a:avLst/>
          </a:prstGeom>
          <a:noFill/>
        </p:spPr>
        <p:txBody>
          <a:bodyPr wrap="none" lIns="27432" rIns="27432" tIns="18288" bIns="18288" anchor="t">
            <a:spAutoFit/>
          </a:bodyPr>
          <a:lstStyle/>
          <a:p>
            <a:pPr algn="ctr">
              <a:defRPr sz="1400" b="0">
                <a:solidFill>
                  <a:srgbClr val="5F6D71"/>
                </a:solidFill>
                <a:latin typeface="Aptos"/>
              </a:defRPr>
            </a:pPr>
            <a:r>
              <a:t>past evidence</a:t>
            </a:r>
          </a:p>
        </p:txBody>
      </p:sp>
      <p:sp>
        <p:nvSpPr>
          <p:cNvPr id="7" name="Rounded Rectangle 6"/>
          <p:cNvSpPr/>
          <p:nvPr/>
        </p:nvSpPr>
        <p:spPr>
          <a:xfrm>
            <a:off x="6199632" y="1417320"/>
            <a:ext cx="5285232" cy="292608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783080"/>
            <a:ext cx="4709160" cy="347472"/>
          </a:xfrm>
          <a:prstGeom prst="rect">
            <a:avLst/>
          </a:prstGeom>
          <a:noFill/>
        </p:spPr>
        <p:txBody>
          <a:bodyPr wrap="none" lIns="27432" rIns="27432" tIns="18288" bIns="18288" anchor="t">
            <a:spAutoFit/>
          </a:bodyPr>
          <a:lstStyle/>
          <a:p>
            <a:pPr algn="ctr">
              <a:defRPr sz="1900" b="1">
                <a:solidFill>
                  <a:srgbClr val="E07A3B"/>
                </a:solidFill>
                <a:latin typeface="Aptos"/>
              </a:defRPr>
            </a:pPr>
            <a:r>
              <a:t>Backward message</a:t>
            </a:r>
          </a:p>
        </p:txBody>
      </p:sp>
      <p:sp>
        <p:nvSpPr>
          <p:cNvPr id="9" name="TextBox 8"/>
          <p:cNvSpPr txBox="1"/>
          <p:nvPr/>
        </p:nvSpPr>
        <p:spPr>
          <a:xfrm>
            <a:off x="6565392" y="2578608"/>
            <a:ext cx="4526280" cy="566928"/>
          </a:xfrm>
          <a:prstGeom prst="rect">
            <a:avLst/>
          </a:prstGeom>
          <a:noFill/>
        </p:spPr>
        <p:txBody>
          <a:bodyPr wrap="none" lIns="27432" rIns="27432" tIns="18288" bIns="18288" anchor="t">
            <a:spAutoFit/>
          </a:bodyPr>
          <a:lstStyle/>
          <a:p>
            <a:pPr algn="ctr">
              <a:defRPr sz="1600" b="0">
                <a:solidFill>
                  <a:srgbClr val="1F2A2E"/>
                </a:solidFill>
                <a:latin typeface="Aptos"/>
              </a:defRPr>
            </a:pPr>
            <a:r>
              <a:t>βt(k) = Σj Akj p(xt+1 | j) βt+1(j)</a:t>
            </a:r>
          </a:p>
        </p:txBody>
      </p:sp>
      <p:sp>
        <p:nvSpPr>
          <p:cNvPr id="10" name="TextBox 9"/>
          <p:cNvSpPr txBox="1"/>
          <p:nvPr/>
        </p:nvSpPr>
        <p:spPr>
          <a:xfrm>
            <a:off x="6519672" y="3566160"/>
            <a:ext cx="4645152" cy="320040"/>
          </a:xfrm>
          <a:prstGeom prst="rect">
            <a:avLst/>
          </a:prstGeom>
          <a:noFill/>
        </p:spPr>
        <p:txBody>
          <a:bodyPr wrap="none" lIns="27432" rIns="27432" tIns="18288" bIns="18288" anchor="t">
            <a:spAutoFit/>
          </a:bodyPr>
          <a:lstStyle/>
          <a:p>
            <a:pPr algn="ctr">
              <a:defRPr sz="1400" b="0">
                <a:solidFill>
                  <a:srgbClr val="5F6D71"/>
                </a:solidFill>
                <a:latin typeface="Aptos"/>
              </a:defRPr>
            </a:pPr>
            <a:r>
              <a:t>future evidence</a:t>
            </a:r>
          </a:p>
        </p:txBody>
      </p:sp>
      <p:sp>
        <p:nvSpPr>
          <p:cNvPr id="11" name="TextBox 10"/>
          <p:cNvSpPr txBox="1"/>
          <p:nvPr/>
        </p:nvSpPr>
        <p:spPr>
          <a:xfrm>
            <a:off x="1234440" y="5074920"/>
            <a:ext cx="9738360" cy="438912"/>
          </a:xfrm>
          <a:prstGeom prst="rect">
            <a:avLst/>
          </a:prstGeom>
          <a:noFill/>
        </p:spPr>
        <p:txBody>
          <a:bodyPr wrap="none" lIns="27432" rIns="27432" tIns="18288" bIns="18288" anchor="t">
            <a:spAutoFit/>
          </a:bodyPr>
          <a:lstStyle/>
          <a:p>
            <a:pPr algn="ctr">
              <a:defRPr sz="2200" b="1">
                <a:solidFill>
                  <a:srgbClr val="00807A"/>
                </a:solidFill>
                <a:latin typeface="Aptos"/>
              </a:defRPr>
            </a:pPr>
            <a:r>
              <a:t>smoothed posterior ∝ forward × backward</a:t>
            </a:r>
          </a:p>
        </p:txBody>
      </p:sp>
      <p:sp>
        <p:nvSpPr>
          <p:cNvPr id="12" name="TextBox 11"/>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Filtering and smoothing answer different questions</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mm_smoothing.png"/>
          <p:cNvPicPr>
            <a:picLocks noChangeAspect="1"/>
          </p:cNvPicPr>
          <p:nvPr/>
        </p:nvPicPr>
        <p:blipFill>
          <a:blip r:embed="rId2"/>
          <a:stretch>
            <a:fillRect/>
          </a:stretch>
        </p:blipFill>
        <p:spPr>
          <a:xfrm>
            <a:off x="2365602" y="1389888"/>
            <a:ext cx="7476035"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Filtering uses the past and present; smoothing revises state beliefs using the complete sequence.</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03a_hmm_foundations.ipynb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Three posterior summaries serve different goals</a:t>
            </a:r>
          </a:p>
        </p:txBody>
      </p:sp>
      <p:sp>
        <p:nvSpPr>
          <p:cNvPr id="3" name="Rounded Rectangle 2"/>
          <p:cNvSpPr/>
          <p:nvPr/>
        </p:nvSpPr>
        <p:spPr>
          <a:xfrm>
            <a:off x="640080" y="1371600"/>
            <a:ext cx="5321808" cy="4526280"/>
          </a:xfrm>
          <a:prstGeom prst="roundRect">
            <a:avLst>
              <a:gd name="adj" fmla="val 8000"/>
            </a:avLst>
          </a:prstGeom>
          <a:solidFill>
            <a:srgbClr val="E0EAF4"/>
          </a:solidFill>
          <a:ln>
            <a:solidFill>
              <a:srgbClr val="E0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19" y="1719072"/>
            <a:ext cx="4663440" cy="384048"/>
          </a:xfrm>
          <a:prstGeom prst="rect">
            <a:avLst/>
          </a:prstGeom>
          <a:noFill/>
        </p:spPr>
        <p:txBody>
          <a:bodyPr wrap="none" lIns="27432" rIns="27432" tIns="18288" bIns="18288" anchor="t">
            <a:spAutoFit/>
          </a:bodyPr>
          <a:lstStyle/>
          <a:p>
            <a:pPr algn="l">
              <a:defRPr sz="1800" b="1">
                <a:solidFill>
                  <a:srgbClr val="1F2A2E"/>
                </a:solidFill>
                <a:latin typeface="Aptos"/>
              </a:defRPr>
            </a:pPr>
            <a:r>
              <a:t>Marginals</a:t>
            </a:r>
          </a:p>
        </p:txBody>
      </p:sp>
      <p:sp>
        <p:nvSpPr>
          <p:cNvPr id="5" name="TextBox 4"/>
          <p:cNvSpPr txBox="1"/>
          <p:nvPr/>
        </p:nvSpPr>
        <p:spPr>
          <a:xfrm>
            <a:off x="969264" y="2359152"/>
            <a:ext cx="4572000" cy="3063240"/>
          </a:xfrm>
          <a:prstGeom prst="rect">
            <a:avLst/>
          </a:prstGeom>
          <a:noFill/>
        </p:spPr>
        <p:txBody>
          <a:bodyPr wrap="square" lIns="27432" rIns="27432">
            <a:spAutoFit/>
          </a:bodyPr>
          <a:lstStyle/>
          <a:p>
            <a:pPr>
              <a:spcAft>
                <a:spcPts val="1500"/>
              </a:spcAft>
              <a:defRPr sz="1800">
                <a:solidFill>
                  <a:srgbClr val="1F2A2E"/>
                </a:solidFill>
                <a:latin typeface="Aptos"/>
              </a:defRPr>
            </a:pPr>
            <a:r>
              <a:t>p(zt | x1:T)</a:t>
            </a:r>
          </a:p>
          <a:p>
            <a:pPr>
              <a:spcAft>
                <a:spcPts val="1500"/>
              </a:spcAft>
              <a:defRPr sz="1800">
                <a:solidFill>
                  <a:srgbClr val="1F2A2E"/>
                </a:solidFill>
                <a:latin typeface="Aptos"/>
              </a:defRPr>
            </a:pPr>
            <a:r>
              <a:t>Uncertainty at each time</a:t>
            </a:r>
          </a:p>
          <a:p>
            <a:pPr>
              <a:spcAft>
                <a:spcPts val="1500"/>
              </a:spcAft>
              <a:defRPr sz="1800">
                <a:solidFill>
                  <a:srgbClr val="1F2A2E"/>
                </a:solidFill>
                <a:latin typeface="Aptos"/>
              </a:defRPr>
            </a:pPr>
            <a:r>
              <a:t>Expected occupancy and transitions</a:t>
            </a:r>
          </a:p>
        </p:txBody>
      </p:sp>
      <p:sp>
        <p:nvSpPr>
          <p:cNvPr id="6" name="Rounded Rectangle 5"/>
          <p:cNvSpPr/>
          <p:nvPr/>
        </p:nvSpPr>
        <p:spPr>
          <a:xfrm>
            <a:off x="6199632" y="1371600"/>
            <a:ext cx="5321808" cy="4526280"/>
          </a:xfrm>
          <a:prstGeom prst="roundRect">
            <a:avLst>
              <a:gd name="adj" fmla="val 8000"/>
            </a:avLst>
          </a:prstGeom>
          <a:solidFill>
            <a:srgbClr val="DCEFEC"/>
          </a:solidFill>
          <a:ln>
            <a:solidFill>
              <a:srgbClr val="DCE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19072"/>
            <a:ext cx="4663440" cy="384048"/>
          </a:xfrm>
          <a:prstGeom prst="rect">
            <a:avLst/>
          </a:prstGeom>
          <a:noFill/>
        </p:spPr>
        <p:txBody>
          <a:bodyPr wrap="none" lIns="27432" rIns="27432" tIns="18288" bIns="18288" anchor="t">
            <a:spAutoFit/>
          </a:bodyPr>
          <a:lstStyle/>
          <a:p>
            <a:pPr algn="l">
              <a:defRPr sz="1800" b="1">
                <a:solidFill>
                  <a:srgbClr val="1F2A2E"/>
                </a:solidFill>
                <a:latin typeface="Aptos"/>
              </a:defRPr>
            </a:pPr>
            <a:r>
              <a:t>Paths</a:t>
            </a:r>
          </a:p>
        </p:txBody>
      </p:sp>
      <p:sp>
        <p:nvSpPr>
          <p:cNvPr id="8" name="TextBox 7"/>
          <p:cNvSpPr txBox="1"/>
          <p:nvPr/>
        </p:nvSpPr>
        <p:spPr>
          <a:xfrm>
            <a:off x="6528816" y="2359152"/>
            <a:ext cx="4572000" cy="3063240"/>
          </a:xfrm>
          <a:prstGeom prst="rect">
            <a:avLst/>
          </a:prstGeom>
          <a:noFill/>
        </p:spPr>
        <p:txBody>
          <a:bodyPr wrap="square" lIns="27432" rIns="27432">
            <a:spAutoFit/>
          </a:bodyPr>
          <a:lstStyle/>
          <a:p>
            <a:pPr>
              <a:spcAft>
                <a:spcPts val="1500"/>
              </a:spcAft>
              <a:defRPr sz="1800">
                <a:solidFill>
                  <a:srgbClr val="1F2A2E"/>
                </a:solidFill>
                <a:latin typeface="Aptos"/>
              </a:defRPr>
            </a:pPr>
            <a:r>
              <a:t>Viterbi: one MAP sequence</a:t>
            </a:r>
          </a:p>
          <a:p>
            <a:pPr>
              <a:spcAft>
                <a:spcPts val="1500"/>
              </a:spcAft>
              <a:defRPr sz="1800">
                <a:solidFill>
                  <a:srgbClr val="1F2A2E"/>
                </a:solidFill>
                <a:latin typeface="Aptos"/>
              </a:defRPr>
            </a:pPr>
            <a:r>
              <a:t>Posterior sampling: distribution over sequences</a:t>
            </a:r>
          </a:p>
          <a:p>
            <a:pPr>
              <a:spcAft>
                <a:spcPts val="1500"/>
              </a:spcAft>
              <a:defRPr sz="1800">
                <a:solidFill>
                  <a:srgbClr val="1F2A2E"/>
                </a:solidFill>
                <a:latin typeface="Aptos"/>
              </a:defRPr>
            </a:pPr>
            <a:r>
              <a:t>A single path hides ambiguity</a:t>
            </a:r>
          </a:p>
        </p:txBody>
      </p:sp>
      <p:sp>
        <p:nvSpPr>
          <p:cNvPr id="9" name="TextBox 8"/>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Baum-Welch is EM for an HMM</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mm_em.png"/>
          <p:cNvPicPr>
            <a:picLocks noChangeAspect="1"/>
          </p:cNvPicPr>
          <p:nvPr/>
        </p:nvPicPr>
        <p:blipFill>
          <a:blip r:embed="rId2"/>
          <a:stretch>
            <a:fillRect/>
          </a:stretch>
        </p:blipFill>
        <p:spPr>
          <a:xfrm>
            <a:off x="822960" y="2023434"/>
            <a:ext cx="10561320" cy="2984867"/>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Forward-backward supplies expected state occupancies and transition counts for the M-step.</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03a_hmm_foundations.ipynb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HMM assumptions determine the scientific interpretation</a:t>
            </a:r>
          </a:p>
        </p:txBody>
      </p:sp>
      <p:sp>
        <p:nvSpPr>
          <p:cNvPr id="3" name="TextBox 2"/>
          <p:cNvSpPr txBox="1"/>
          <p:nvPr/>
        </p:nvSpPr>
        <p:spPr>
          <a:xfrm>
            <a:off x="777240" y="1417320"/>
            <a:ext cx="1828800" cy="274320"/>
          </a:xfrm>
          <a:prstGeom prst="rect">
            <a:avLst/>
          </a:prstGeom>
          <a:noFill/>
        </p:spPr>
        <p:txBody>
          <a:bodyPr wrap="none" lIns="27432" rIns="27432" tIns="18288" bIns="18288" anchor="t">
            <a:spAutoFit/>
          </a:bodyPr>
          <a:lstStyle/>
          <a:p>
            <a:pPr algn="l">
              <a:defRPr sz="1300" b="1">
                <a:solidFill>
                  <a:srgbClr val="5F6D71"/>
                </a:solidFill>
                <a:latin typeface="Aptos"/>
              </a:defRPr>
            </a:pPr>
            <a:r>
              <a:t>Model</a:t>
            </a:r>
          </a:p>
        </p:txBody>
      </p:sp>
      <p:sp>
        <p:nvSpPr>
          <p:cNvPr id="4" name="TextBox 3"/>
          <p:cNvSpPr txBox="1"/>
          <p:nvPr/>
        </p:nvSpPr>
        <p:spPr>
          <a:xfrm>
            <a:off x="2971800" y="1417320"/>
            <a:ext cx="3200400" cy="274320"/>
          </a:xfrm>
          <a:prstGeom prst="rect">
            <a:avLst/>
          </a:prstGeom>
          <a:noFill/>
        </p:spPr>
        <p:txBody>
          <a:bodyPr wrap="none" lIns="27432" rIns="27432" tIns="18288" bIns="18288" anchor="t">
            <a:spAutoFit/>
          </a:bodyPr>
          <a:lstStyle/>
          <a:p>
            <a:pPr algn="l">
              <a:defRPr sz="1300" b="1">
                <a:solidFill>
                  <a:srgbClr val="5F6D71"/>
                </a:solidFill>
                <a:latin typeface="Aptos"/>
              </a:defRPr>
            </a:pPr>
            <a:r>
              <a:t>Observation / dynamics</a:t>
            </a:r>
          </a:p>
        </p:txBody>
      </p:sp>
      <p:sp>
        <p:nvSpPr>
          <p:cNvPr id="5" name="TextBox 4"/>
          <p:cNvSpPr txBox="1"/>
          <p:nvPr/>
        </p:nvSpPr>
        <p:spPr>
          <a:xfrm>
            <a:off x="7360920" y="1417320"/>
            <a:ext cx="3474720" cy="274320"/>
          </a:xfrm>
          <a:prstGeom prst="rect">
            <a:avLst/>
          </a:prstGeom>
          <a:noFill/>
        </p:spPr>
        <p:txBody>
          <a:bodyPr wrap="none" lIns="27432" rIns="27432" tIns="18288" bIns="18288" anchor="t">
            <a:spAutoFit/>
          </a:bodyPr>
          <a:lstStyle/>
          <a:p>
            <a:pPr algn="l">
              <a:defRPr sz="1300" b="1">
                <a:solidFill>
                  <a:srgbClr val="5F6D71"/>
                </a:solidFill>
                <a:latin typeface="Aptos"/>
              </a:defRPr>
            </a:pPr>
            <a:r>
              <a:t>Interpretation</a:t>
            </a:r>
          </a:p>
        </p:txBody>
      </p:sp>
      <p:sp>
        <p:nvSpPr>
          <p:cNvPr id="6" name="Rectangle 5"/>
          <p:cNvSpPr/>
          <p:nvPr/>
        </p:nvSpPr>
        <p:spPr>
          <a:xfrm>
            <a:off x="685800" y="1874519"/>
            <a:ext cx="10835640" cy="9875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39696"/>
            <a:ext cx="1737360" cy="320040"/>
          </a:xfrm>
          <a:prstGeom prst="rect">
            <a:avLst/>
          </a:prstGeom>
          <a:noFill/>
        </p:spPr>
        <p:txBody>
          <a:bodyPr wrap="none" lIns="27432" rIns="27432" tIns="18288" bIns="18288" anchor="t">
            <a:spAutoFit/>
          </a:bodyPr>
          <a:lstStyle/>
          <a:p>
            <a:pPr algn="l">
              <a:defRPr sz="1700" b="1">
                <a:solidFill>
                  <a:srgbClr val="00807A"/>
                </a:solidFill>
                <a:latin typeface="Aptos"/>
              </a:defRPr>
            </a:pPr>
            <a:r>
              <a:t>Gaussian HMM</a:t>
            </a:r>
          </a:p>
        </p:txBody>
      </p:sp>
      <p:sp>
        <p:nvSpPr>
          <p:cNvPr id="8" name="TextBox 7"/>
          <p:cNvSpPr txBox="1"/>
          <p:nvPr/>
        </p:nvSpPr>
        <p:spPr>
          <a:xfrm>
            <a:off x="2971800" y="2139696"/>
            <a:ext cx="384048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state-specific mean/covariance</a:t>
            </a:r>
          </a:p>
        </p:txBody>
      </p:sp>
      <p:sp>
        <p:nvSpPr>
          <p:cNvPr id="9" name="TextBox 8"/>
          <p:cNvSpPr txBox="1"/>
          <p:nvPr/>
        </p:nvSpPr>
        <p:spPr>
          <a:xfrm>
            <a:off x="7360920" y="2139696"/>
            <a:ext cx="356616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recurring static regimes</a:t>
            </a:r>
          </a:p>
        </p:txBody>
      </p:sp>
      <p:sp>
        <p:nvSpPr>
          <p:cNvPr id="10" name="Rectangle 9"/>
          <p:cNvSpPr/>
          <p:nvPr/>
        </p:nvSpPr>
        <p:spPr>
          <a:xfrm>
            <a:off x="685800" y="3108960"/>
            <a:ext cx="10835640" cy="987552"/>
          </a:xfrm>
          <a:prstGeom prst="rect">
            <a:avLst/>
          </a:prstGeom>
          <a:solidFill>
            <a:srgbClr val="EFF3F1"/>
          </a:solidFill>
          <a:ln>
            <a:solidFill>
              <a:srgbClr val="EF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374136"/>
            <a:ext cx="1737360" cy="320040"/>
          </a:xfrm>
          <a:prstGeom prst="rect">
            <a:avLst/>
          </a:prstGeom>
          <a:noFill/>
        </p:spPr>
        <p:txBody>
          <a:bodyPr wrap="none" lIns="27432" rIns="27432" tIns="18288" bIns="18288" anchor="t">
            <a:spAutoFit/>
          </a:bodyPr>
          <a:lstStyle/>
          <a:p>
            <a:pPr algn="l">
              <a:defRPr sz="1700" b="1">
                <a:solidFill>
                  <a:srgbClr val="00807A"/>
                </a:solidFill>
                <a:latin typeface="Aptos"/>
              </a:defRPr>
            </a:pPr>
            <a:r>
              <a:t>AR-HMM</a:t>
            </a:r>
          </a:p>
        </p:txBody>
      </p:sp>
      <p:sp>
        <p:nvSpPr>
          <p:cNvPr id="12" name="TextBox 11"/>
          <p:cNvSpPr txBox="1"/>
          <p:nvPr/>
        </p:nvSpPr>
        <p:spPr>
          <a:xfrm>
            <a:off x="2971800" y="3374136"/>
            <a:ext cx="384048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state-specific autoregression</a:t>
            </a:r>
          </a:p>
        </p:txBody>
      </p:sp>
      <p:sp>
        <p:nvSpPr>
          <p:cNvPr id="13" name="TextBox 12"/>
          <p:cNvSpPr txBox="1"/>
          <p:nvPr/>
        </p:nvSpPr>
        <p:spPr>
          <a:xfrm>
            <a:off x="7360920" y="3374136"/>
            <a:ext cx="356616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switching local dynamics</a:t>
            </a:r>
          </a:p>
        </p:txBody>
      </p:sp>
      <p:sp>
        <p:nvSpPr>
          <p:cNvPr id="14" name="Rectangle 13"/>
          <p:cNvSpPr/>
          <p:nvPr/>
        </p:nvSpPr>
        <p:spPr>
          <a:xfrm>
            <a:off x="685800" y="4343400"/>
            <a:ext cx="10835640" cy="9875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608576"/>
            <a:ext cx="1737360" cy="320040"/>
          </a:xfrm>
          <a:prstGeom prst="rect">
            <a:avLst/>
          </a:prstGeom>
          <a:noFill/>
        </p:spPr>
        <p:txBody>
          <a:bodyPr wrap="none" lIns="27432" rIns="27432" tIns="18288" bIns="18288" anchor="t">
            <a:spAutoFit/>
          </a:bodyPr>
          <a:lstStyle/>
          <a:p>
            <a:pPr algn="l">
              <a:defRPr sz="1700" b="1">
                <a:solidFill>
                  <a:srgbClr val="00807A"/>
                </a:solidFill>
                <a:latin typeface="Aptos"/>
              </a:defRPr>
            </a:pPr>
            <a:r>
              <a:t>SLDS</a:t>
            </a:r>
          </a:p>
        </p:txBody>
      </p:sp>
      <p:sp>
        <p:nvSpPr>
          <p:cNvPr id="16" name="TextBox 15"/>
          <p:cNvSpPr txBox="1"/>
          <p:nvPr/>
        </p:nvSpPr>
        <p:spPr>
          <a:xfrm>
            <a:off x="2971800" y="4608576"/>
            <a:ext cx="384048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continuous latent state + switches</a:t>
            </a:r>
          </a:p>
        </p:txBody>
      </p:sp>
      <p:sp>
        <p:nvSpPr>
          <p:cNvPr id="17" name="TextBox 16"/>
          <p:cNvSpPr txBox="1"/>
          <p:nvPr/>
        </p:nvSpPr>
        <p:spPr>
          <a:xfrm>
            <a:off x="7360920" y="4608576"/>
            <a:ext cx="3566160" cy="320040"/>
          </a:xfrm>
          <a:prstGeom prst="rect">
            <a:avLst/>
          </a:prstGeom>
          <a:noFill/>
        </p:spPr>
        <p:txBody>
          <a:bodyPr wrap="none" lIns="27432" rIns="27432" tIns="18288" bIns="18288" anchor="t">
            <a:spAutoFit/>
          </a:bodyPr>
          <a:lstStyle/>
          <a:p>
            <a:pPr algn="l">
              <a:defRPr sz="1600" b="0">
                <a:solidFill>
                  <a:srgbClr val="1F2A2E"/>
                </a:solidFill>
                <a:latin typeface="Aptos"/>
              </a:defRPr>
            </a:pPr>
            <a:r>
              <a:t>piecewise linear dynamics</a:t>
            </a:r>
          </a:p>
        </p:txBody>
      </p:sp>
      <p:sp>
        <p:nvSpPr>
          <p:cNvPr id="18" name="TextBox 17"/>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4</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Variational inference and VAEs</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Approximate posteriors for nonlinear latent-variable models</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4</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Variational inference turns inference into optimization</a:t>
            </a:r>
          </a:p>
        </p:txBody>
      </p:sp>
      <p:pic>
        <p:nvPicPr>
          <p:cNvPr id="3" name="Picture 2" descr="eq_elbo.png"/>
          <p:cNvPicPr>
            <a:picLocks noChangeAspect="1"/>
          </p:cNvPicPr>
          <p:nvPr/>
        </p:nvPicPr>
        <p:blipFill>
          <a:blip r:embed="rId2"/>
          <a:stretch>
            <a:fillRect/>
          </a:stretch>
        </p:blipFill>
        <p:spPr>
          <a:xfrm>
            <a:off x="1177473" y="1097280"/>
            <a:ext cx="9806573" cy="960120"/>
          </a:xfrm>
          <a:prstGeom prst="rect">
            <a:avLst/>
          </a:prstGeom>
        </p:spPr>
      </p:pic>
      <p:sp>
        <p:nvSpPr>
          <p:cNvPr id="4" name="Rounded Rectangle 3"/>
          <p:cNvSpPr/>
          <p:nvPr/>
        </p:nvSpPr>
        <p:spPr>
          <a:xfrm>
            <a:off x="685800" y="2743200"/>
            <a:ext cx="3520440" cy="192024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3090672"/>
            <a:ext cx="3154680" cy="384048"/>
          </a:xfrm>
          <a:prstGeom prst="rect">
            <a:avLst/>
          </a:prstGeom>
          <a:noFill/>
        </p:spPr>
        <p:txBody>
          <a:bodyPr wrap="none" lIns="27432" rIns="27432" tIns="18288" bIns="18288" anchor="t">
            <a:spAutoFit/>
          </a:bodyPr>
          <a:lstStyle/>
          <a:p>
            <a:pPr algn="ctr">
              <a:defRPr sz="1800" b="1">
                <a:solidFill>
                  <a:srgbClr val="32659C"/>
                </a:solidFill>
                <a:latin typeface="Aptos"/>
              </a:defRPr>
            </a:pPr>
            <a:r>
              <a:t>Choose qφ(z | x)</a:t>
            </a:r>
          </a:p>
        </p:txBody>
      </p:sp>
      <p:sp>
        <p:nvSpPr>
          <p:cNvPr id="6" name="TextBox 5"/>
          <p:cNvSpPr txBox="1"/>
          <p:nvPr/>
        </p:nvSpPr>
        <p:spPr>
          <a:xfrm>
            <a:off x="960120" y="3886200"/>
            <a:ext cx="2971800" cy="502920"/>
          </a:xfrm>
          <a:prstGeom prst="rect">
            <a:avLst/>
          </a:prstGeom>
          <a:noFill/>
        </p:spPr>
        <p:txBody>
          <a:bodyPr wrap="none" lIns="27432" rIns="27432" tIns="18288" bIns="18288" anchor="t">
            <a:spAutoFit/>
          </a:bodyPr>
          <a:lstStyle/>
          <a:p>
            <a:pPr algn="ctr">
              <a:defRPr sz="1400" b="0">
                <a:solidFill>
                  <a:srgbClr val="5F6D71"/>
                </a:solidFill>
                <a:latin typeface="Aptos"/>
              </a:defRPr>
            </a:pPr>
            <a:r>
              <a:t>a tractable posterior family</a:t>
            </a:r>
          </a:p>
        </p:txBody>
      </p:sp>
      <p:sp>
        <p:nvSpPr>
          <p:cNvPr id="7" name="Rounded Rectangle 6"/>
          <p:cNvSpPr/>
          <p:nvPr/>
        </p:nvSpPr>
        <p:spPr>
          <a:xfrm>
            <a:off x="4526280" y="2743200"/>
            <a:ext cx="3520440" cy="192024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3090672"/>
            <a:ext cx="3154680" cy="384048"/>
          </a:xfrm>
          <a:prstGeom prst="rect">
            <a:avLst/>
          </a:prstGeom>
          <a:noFill/>
        </p:spPr>
        <p:txBody>
          <a:bodyPr wrap="none" lIns="27432" rIns="27432" tIns="18288" bIns="18288" anchor="t">
            <a:spAutoFit/>
          </a:bodyPr>
          <a:lstStyle/>
          <a:p>
            <a:pPr algn="ctr">
              <a:defRPr sz="1800" b="1">
                <a:solidFill>
                  <a:srgbClr val="00807A"/>
                </a:solidFill>
                <a:latin typeface="Aptos"/>
              </a:defRPr>
            </a:pPr>
            <a:r>
              <a:t>Maximize the ELBO</a:t>
            </a:r>
          </a:p>
        </p:txBody>
      </p:sp>
      <p:sp>
        <p:nvSpPr>
          <p:cNvPr id="9" name="TextBox 8"/>
          <p:cNvSpPr txBox="1"/>
          <p:nvPr/>
        </p:nvSpPr>
        <p:spPr>
          <a:xfrm>
            <a:off x="4800600" y="3886200"/>
            <a:ext cx="2971800" cy="502920"/>
          </a:xfrm>
          <a:prstGeom prst="rect">
            <a:avLst/>
          </a:prstGeom>
          <a:noFill/>
        </p:spPr>
        <p:txBody>
          <a:bodyPr wrap="none" lIns="27432" rIns="27432" tIns="18288" bIns="18288" anchor="t">
            <a:spAutoFit/>
          </a:bodyPr>
          <a:lstStyle/>
          <a:p>
            <a:pPr algn="ctr">
              <a:defRPr sz="1400" b="0">
                <a:solidFill>
                  <a:srgbClr val="5F6D71"/>
                </a:solidFill>
                <a:latin typeface="Aptos"/>
              </a:defRPr>
            </a:pPr>
            <a:r>
              <a:t>fit φ and model parameters θ</a:t>
            </a:r>
          </a:p>
        </p:txBody>
      </p:sp>
      <p:sp>
        <p:nvSpPr>
          <p:cNvPr id="10" name="Rounded Rectangle 9"/>
          <p:cNvSpPr/>
          <p:nvPr/>
        </p:nvSpPr>
        <p:spPr>
          <a:xfrm>
            <a:off x="8366760" y="2743200"/>
            <a:ext cx="3520440" cy="192024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3090672"/>
            <a:ext cx="3154680" cy="384048"/>
          </a:xfrm>
          <a:prstGeom prst="rect">
            <a:avLst/>
          </a:prstGeom>
          <a:noFill/>
        </p:spPr>
        <p:txBody>
          <a:bodyPr wrap="none" lIns="27432" rIns="27432" tIns="18288" bIns="18288" anchor="t">
            <a:spAutoFit/>
          </a:bodyPr>
          <a:lstStyle/>
          <a:p>
            <a:pPr algn="ctr">
              <a:defRPr sz="1800" b="1">
                <a:solidFill>
                  <a:srgbClr val="E07A3B"/>
                </a:solidFill>
                <a:latin typeface="Aptos"/>
              </a:defRPr>
            </a:pPr>
            <a:r>
              <a:t>Check the gap</a:t>
            </a:r>
          </a:p>
        </p:txBody>
      </p:sp>
      <p:sp>
        <p:nvSpPr>
          <p:cNvPr id="12" name="TextBox 11"/>
          <p:cNvSpPr txBox="1"/>
          <p:nvPr/>
        </p:nvSpPr>
        <p:spPr>
          <a:xfrm>
            <a:off x="8641080" y="3886200"/>
            <a:ext cx="2971800" cy="502920"/>
          </a:xfrm>
          <a:prstGeom prst="rect">
            <a:avLst/>
          </a:prstGeom>
          <a:noFill/>
        </p:spPr>
        <p:txBody>
          <a:bodyPr wrap="none" lIns="27432" rIns="27432" tIns="18288" bIns="18288" anchor="t">
            <a:spAutoFit/>
          </a:bodyPr>
          <a:lstStyle/>
          <a:p>
            <a:pPr algn="ctr">
              <a:defRPr sz="1400" b="0">
                <a:solidFill>
                  <a:srgbClr val="5F6D71"/>
                </a:solidFill>
                <a:latin typeface="Aptos"/>
              </a:defRPr>
            </a:pPr>
            <a:r>
              <a:t>approximation quality is not guaranteed</a:t>
            </a:r>
          </a:p>
        </p:txBody>
      </p:sp>
      <p:sp>
        <p:nvSpPr>
          <p:cNvPr id="13" name="TextBox 12"/>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Amortization learns a reusable inference rule</a:t>
            </a:r>
          </a:p>
        </p:txBody>
      </p:sp>
      <p:sp>
        <p:nvSpPr>
          <p:cNvPr id="3" name="Rounded Rectangle 2"/>
          <p:cNvSpPr/>
          <p:nvPr/>
        </p:nvSpPr>
        <p:spPr>
          <a:xfrm>
            <a:off x="731520" y="1371600"/>
            <a:ext cx="5257800" cy="443484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719072"/>
            <a:ext cx="4617720" cy="411480"/>
          </a:xfrm>
          <a:prstGeom prst="rect">
            <a:avLst/>
          </a:prstGeom>
          <a:noFill/>
        </p:spPr>
        <p:txBody>
          <a:bodyPr wrap="none" lIns="27432" rIns="27432" tIns="18288" bIns="18288" anchor="t">
            <a:spAutoFit/>
          </a:bodyPr>
          <a:lstStyle/>
          <a:p>
            <a:pPr algn="ctr">
              <a:defRPr sz="1900" b="1">
                <a:solidFill>
                  <a:srgbClr val="E07A3B"/>
                </a:solidFill>
                <a:latin typeface="Aptos"/>
              </a:defRPr>
            </a:pPr>
            <a:r>
              <a:t>Classical variational inference</a:t>
            </a:r>
          </a:p>
        </p:txBody>
      </p:sp>
      <p:sp>
        <p:nvSpPr>
          <p:cNvPr id="5" name="TextBox 4"/>
          <p:cNvSpPr txBox="1"/>
          <p:nvPr/>
        </p:nvSpPr>
        <p:spPr>
          <a:xfrm>
            <a:off x="1234440" y="2606040"/>
            <a:ext cx="4297680" cy="2331720"/>
          </a:xfrm>
          <a:prstGeom prst="rect">
            <a:avLst/>
          </a:prstGeom>
          <a:noFill/>
        </p:spPr>
        <p:txBody>
          <a:bodyPr wrap="square" lIns="27432" rIns="27432">
            <a:spAutoFit/>
          </a:bodyPr>
          <a:lstStyle/>
          <a:p>
            <a:pPr>
              <a:spcAft>
                <a:spcPts val="1800"/>
              </a:spcAft>
              <a:defRPr sz="1700">
                <a:solidFill>
                  <a:srgbClr val="1F2A2E"/>
                </a:solidFill>
                <a:latin typeface="Aptos"/>
              </a:defRPr>
            </a:pPr>
            <a:r>
              <a:t>new local parameters for every xn</a:t>
            </a:r>
          </a:p>
          <a:p>
            <a:pPr>
              <a:spcAft>
                <a:spcPts val="1800"/>
              </a:spcAft>
              <a:defRPr sz="1700">
                <a:solidFill>
                  <a:srgbClr val="1F2A2E"/>
                </a:solidFill>
                <a:latin typeface="Aptos"/>
              </a:defRPr>
            </a:pPr>
            <a:r>
              <a:t>optimize separately</a:t>
            </a:r>
          </a:p>
          <a:p>
            <a:pPr>
              <a:spcAft>
                <a:spcPts val="1800"/>
              </a:spcAft>
              <a:defRPr sz="1700">
                <a:solidFill>
                  <a:srgbClr val="1F2A2E"/>
                </a:solidFill>
                <a:latin typeface="Aptos"/>
              </a:defRPr>
            </a:pPr>
            <a:r>
              <a:t>accurate but expensive</a:t>
            </a:r>
          </a:p>
        </p:txBody>
      </p:sp>
      <p:sp>
        <p:nvSpPr>
          <p:cNvPr id="6" name="Rounded Rectangle 5"/>
          <p:cNvSpPr/>
          <p:nvPr/>
        </p:nvSpPr>
        <p:spPr>
          <a:xfrm>
            <a:off x="6199632" y="1371600"/>
            <a:ext cx="5257800" cy="443484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19072"/>
            <a:ext cx="4617720" cy="411480"/>
          </a:xfrm>
          <a:prstGeom prst="rect">
            <a:avLst/>
          </a:prstGeom>
          <a:noFill/>
        </p:spPr>
        <p:txBody>
          <a:bodyPr wrap="none" lIns="27432" rIns="27432" tIns="18288" bIns="18288" anchor="t">
            <a:spAutoFit/>
          </a:bodyPr>
          <a:lstStyle/>
          <a:p>
            <a:pPr algn="ctr">
              <a:defRPr sz="1900" b="1">
                <a:solidFill>
                  <a:srgbClr val="00807A"/>
                </a:solidFill>
                <a:latin typeface="Aptos"/>
              </a:defRPr>
            </a:pPr>
            <a:r>
              <a:t>Amortized inference</a:t>
            </a:r>
          </a:p>
        </p:txBody>
      </p:sp>
      <p:sp>
        <p:nvSpPr>
          <p:cNvPr id="8" name="TextBox 7"/>
          <p:cNvSpPr txBox="1"/>
          <p:nvPr/>
        </p:nvSpPr>
        <p:spPr>
          <a:xfrm>
            <a:off x="6702552" y="2606040"/>
            <a:ext cx="4297680" cy="2331720"/>
          </a:xfrm>
          <a:prstGeom prst="rect">
            <a:avLst/>
          </a:prstGeom>
          <a:noFill/>
        </p:spPr>
        <p:txBody>
          <a:bodyPr wrap="square" lIns="27432" rIns="27432">
            <a:spAutoFit/>
          </a:bodyPr>
          <a:lstStyle/>
          <a:p>
            <a:pPr>
              <a:spcAft>
                <a:spcPts val="1800"/>
              </a:spcAft>
              <a:defRPr sz="1700">
                <a:solidFill>
                  <a:srgbClr val="1F2A2E"/>
                </a:solidFill>
                <a:latin typeface="Aptos"/>
              </a:defRPr>
            </a:pPr>
            <a:r>
              <a:t>shared encoder qφ(z | x)</a:t>
            </a:r>
          </a:p>
          <a:p>
            <a:pPr>
              <a:spcAft>
                <a:spcPts val="1800"/>
              </a:spcAft>
              <a:defRPr sz="1700">
                <a:solidFill>
                  <a:srgbClr val="1F2A2E"/>
                </a:solidFill>
                <a:latin typeface="Aptos"/>
              </a:defRPr>
            </a:pPr>
            <a:r>
              <a:t>one forward pass</a:t>
            </a:r>
          </a:p>
          <a:p>
            <a:pPr>
              <a:spcAft>
                <a:spcPts val="1800"/>
              </a:spcAft>
              <a:defRPr sz="1700">
                <a:solidFill>
                  <a:srgbClr val="1F2A2E"/>
                </a:solidFill>
                <a:latin typeface="Aptos"/>
              </a:defRPr>
            </a:pPr>
            <a:r>
              <a:t>fast but may introduce amortization gap</a:t>
            </a:r>
          </a:p>
        </p:txBody>
      </p:sp>
      <p:sp>
        <p:nvSpPr>
          <p:cNvPr id="9" name="TextBox 8"/>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The VAE objective balances reconstruction and regularization</a:t>
            </a:r>
          </a:p>
        </p:txBody>
      </p:sp>
      <p:pic>
        <p:nvPicPr>
          <p:cNvPr id="3" name="Picture 2" descr="eq_vae.png"/>
          <p:cNvPicPr>
            <a:picLocks noChangeAspect="1"/>
          </p:cNvPicPr>
          <p:nvPr/>
        </p:nvPicPr>
        <p:blipFill>
          <a:blip r:embed="rId2"/>
          <a:stretch>
            <a:fillRect/>
          </a:stretch>
        </p:blipFill>
        <p:spPr>
          <a:xfrm>
            <a:off x="943983" y="1143000"/>
            <a:ext cx="10273552" cy="1005840"/>
          </a:xfrm>
          <a:prstGeom prst="rect">
            <a:avLst/>
          </a:prstGeom>
        </p:spPr>
      </p:pic>
      <p:sp>
        <p:nvSpPr>
          <p:cNvPr id="4" name="Rounded Rectangle 3"/>
          <p:cNvSpPr/>
          <p:nvPr/>
        </p:nvSpPr>
        <p:spPr>
          <a:xfrm>
            <a:off x="914400" y="2743200"/>
            <a:ext cx="4800600" cy="192024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08960"/>
            <a:ext cx="4251960" cy="365760"/>
          </a:xfrm>
          <a:prstGeom prst="rect">
            <a:avLst/>
          </a:prstGeom>
          <a:noFill/>
        </p:spPr>
        <p:txBody>
          <a:bodyPr wrap="none" lIns="27432" rIns="27432" tIns="18288" bIns="18288" anchor="t">
            <a:spAutoFit/>
          </a:bodyPr>
          <a:lstStyle/>
          <a:p>
            <a:pPr algn="ctr">
              <a:defRPr sz="1900" b="1">
                <a:solidFill>
                  <a:srgbClr val="32659C"/>
                </a:solidFill>
                <a:latin typeface="Aptos"/>
              </a:defRPr>
            </a:pPr>
            <a:r>
              <a:t>Reconstruction</a:t>
            </a:r>
          </a:p>
        </p:txBody>
      </p:sp>
      <p:sp>
        <p:nvSpPr>
          <p:cNvPr id="6" name="TextBox 5"/>
          <p:cNvSpPr txBox="1"/>
          <p:nvPr/>
        </p:nvSpPr>
        <p:spPr>
          <a:xfrm>
            <a:off x="1325880" y="3886200"/>
            <a:ext cx="3977639" cy="502920"/>
          </a:xfrm>
          <a:prstGeom prst="rect">
            <a:avLst/>
          </a:prstGeom>
          <a:noFill/>
        </p:spPr>
        <p:txBody>
          <a:bodyPr wrap="none" lIns="27432" rIns="27432" tIns="18288" bIns="18288" anchor="t">
            <a:spAutoFit/>
          </a:bodyPr>
          <a:lstStyle/>
          <a:p>
            <a:pPr algn="ctr">
              <a:defRPr sz="1500" b="0">
                <a:solidFill>
                  <a:srgbClr val="5F6D71"/>
                </a:solidFill>
                <a:latin typeface="Aptos"/>
              </a:defRPr>
            </a:pPr>
            <a:r>
              <a:t>Does z explain x through the decoder?</a:t>
            </a:r>
          </a:p>
        </p:txBody>
      </p:sp>
      <p:sp>
        <p:nvSpPr>
          <p:cNvPr id="7" name="Rounded Rectangle 6"/>
          <p:cNvSpPr/>
          <p:nvPr/>
        </p:nvSpPr>
        <p:spPr>
          <a:xfrm>
            <a:off x="6446520" y="2743200"/>
            <a:ext cx="4800600" cy="192024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3108960"/>
            <a:ext cx="4251960" cy="365760"/>
          </a:xfrm>
          <a:prstGeom prst="rect">
            <a:avLst/>
          </a:prstGeom>
          <a:noFill/>
        </p:spPr>
        <p:txBody>
          <a:bodyPr wrap="none" lIns="27432" rIns="27432" tIns="18288" bIns="18288" anchor="t">
            <a:spAutoFit/>
          </a:bodyPr>
          <a:lstStyle/>
          <a:p>
            <a:pPr algn="ctr">
              <a:defRPr sz="1900" b="1">
                <a:solidFill>
                  <a:srgbClr val="E07A3B"/>
                </a:solidFill>
                <a:latin typeface="Aptos"/>
              </a:defRPr>
            </a:pPr>
            <a:r>
              <a:t>KL regularization</a:t>
            </a:r>
          </a:p>
        </p:txBody>
      </p:sp>
      <p:sp>
        <p:nvSpPr>
          <p:cNvPr id="9" name="TextBox 8"/>
          <p:cNvSpPr txBox="1"/>
          <p:nvPr/>
        </p:nvSpPr>
        <p:spPr>
          <a:xfrm>
            <a:off x="6858000" y="3886200"/>
            <a:ext cx="3977639" cy="502920"/>
          </a:xfrm>
          <a:prstGeom prst="rect">
            <a:avLst/>
          </a:prstGeom>
          <a:noFill/>
        </p:spPr>
        <p:txBody>
          <a:bodyPr wrap="none" lIns="27432" rIns="27432" tIns="18288" bIns="18288" anchor="t">
            <a:spAutoFit/>
          </a:bodyPr>
          <a:lstStyle/>
          <a:p>
            <a:pPr algn="ctr">
              <a:defRPr sz="1500" b="0">
                <a:solidFill>
                  <a:srgbClr val="5F6D71"/>
                </a:solidFill>
                <a:latin typeface="Aptos"/>
              </a:defRPr>
            </a:pPr>
            <a:r>
              <a:t>Does the inferred code remain close to the prior?</a:t>
            </a:r>
          </a:p>
        </p:txBody>
      </p:sp>
      <p:sp>
        <p:nvSpPr>
          <p:cNvPr id="10" name="TextBox 9"/>
          <p:cNvSpPr txBox="1"/>
          <p:nvPr/>
        </p:nvSpPr>
        <p:spPr>
          <a:xfrm>
            <a:off x="914400" y="5303520"/>
            <a:ext cx="10332720" cy="347472"/>
          </a:xfrm>
          <a:prstGeom prst="rect">
            <a:avLst/>
          </a:prstGeom>
          <a:noFill/>
        </p:spPr>
        <p:txBody>
          <a:bodyPr wrap="none" lIns="27432" rIns="27432" tIns="18288" bIns="18288" anchor="t">
            <a:spAutoFit/>
          </a:bodyPr>
          <a:lstStyle/>
          <a:p>
            <a:pPr algn="ctr">
              <a:defRPr sz="1700" b="1">
                <a:solidFill>
                  <a:srgbClr val="1F2A2E"/>
                </a:solidFill>
                <a:latin typeface="Aptos"/>
              </a:defRPr>
            </a:pPr>
            <a:r>
              <a:t>The balance controls information capacity and can cause posterior collapse.</a:t>
            </a:r>
          </a:p>
        </p:txBody>
      </p:sp>
      <p:sp>
        <p:nvSpPr>
          <p:cNvPr id="11" name="TextBox 10"/>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 VAE combines a generative model and an inference network</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ae_architecture.png"/>
          <p:cNvPicPr>
            <a:picLocks noChangeAspect="1"/>
          </p:cNvPicPr>
          <p:nvPr/>
        </p:nvPicPr>
        <p:blipFill>
          <a:blip r:embed="rId2"/>
          <a:stretch>
            <a:fillRect/>
          </a:stretch>
        </p:blipFill>
        <p:spPr>
          <a:xfrm>
            <a:off x="1524085" y="1389888"/>
            <a:ext cx="9159068"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The encoder parameterizes qφ(z | x); the decoder parameterizes pθ(x | z).</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04_standard_vae.ipynb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The reparameterization trick differentiates through sampling</a:t>
            </a:r>
          </a:p>
        </p:txBody>
      </p:sp>
      <p:pic>
        <p:nvPicPr>
          <p:cNvPr id="3" name="Picture 2" descr="eq_reparam.png"/>
          <p:cNvPicPr>
            <a:picLocks noChangeAspect="1"/>
          </p:cNvPicPr>
          <p:nvPr/>
        </p:nvPicPr>
        <p:blipFill>
          <a:blip r:embed="rId2"/>
          <a:stretch>
            <a:fillRect/>
          </a:stretch>
        </p:blipFill>
        <p:spPr>
          <a:xfrm>
            <a:off x="943983" y="1234440"/>
            <a:ext cx="10273552" cy="1005840"/>
          </a:xfrm>
          <a:prstGeom prst="rect">
            <a:avLst/>
          </a:prstGeom>
        </p:spPr>
      </p:pic>
      <p:sp>
        <p:nvSpPr>
          <p:cNvPr id="4" name="Rounded Rectangle 3"/>
          <p:cNvSpPr/>
          <p:nvPr/>
        </p:nvSpPr>
        <p:spPr>
          <a:xfrm>
            <a:off x="1005840" y="2880360"/>
            <a:ext cx="2743200" cy="141732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82112"/>
            <a:ext cx="2377440" cy="320040"/>
          </a:xfrm>
          <a:prstGeom prst="rect">
            <a:avLst/>
          </a:prstGeom>
          <a:noFill/>
        </p:spPr>
        <p:txBody>
          <a:bodyPr wrap="none" lIns="27432" rIns="27432" tIns="18288" bIns="18288" anchor="t">
            <a:spAutoFit/>
          </a:bodyPr>
          <a:lstStyle/>
          <a:p>
            <a:pPr algn="ctr">
              <a:defRPr sz="1800" b="1">
                <a:solidFill>
                  <a:srgbClr val="32659C"/>
                </a:solidFill>
                <a:latin typeface="Aptos"/>
              </a:defRPr>
            </a:pPr>
            <a:r>
              <a:t>encoder</a:t>
            </a:r>
          </a:p>
        </p:txBody>
      </p:sp>
      <p:sp>
        <p:nvSpPr>
          <p:cNvPr id="6" name="TextBox 5"/>
          <p:cNvSpPr txBox="1"/>
          <p:nvPr/>
        </p:nvSpPr>
        <p:spPr>
          <a:xfrm>
            <a:off x="1188720" y="3703320"/>
            <a:ext cx="2377440" cy="274320"/>
          </a:xfrm>
          <a:prstGeom prst="rect">
            <a:avLst/>
          </a:prstGeom>
          <a:noFill/>
        </p:spPr>
        <p:txBody>
          <a:bodyPr wrap="none" lIns="27432" rIns="27432" tIns="18288" bIns="18288" anchor="t">
            <a:spAutoFit/>
          </a:bodyPr>
          <a:lstStyle/>
          <a:p>
            <a:pPr algn="ctr">
              <a:defRPr sz="1400" b="0">
                <a:solidFill>
                  <a:srgbClr val="5F6D71"/>
                </a:solidFill>
                <a:latin typeface="Aptos"/>
              </a:defRPr>
            </a:pPr>
            <a:r>
              <a:t>μ(x), σ(x)</a:t>
            </a:r>
          </a:p>
        </p:txBody>
      </p:sp>
      <p:sp>
        <p:nvSpPr>
          <p:cNvPr id="7" name="TextBox 6"/>
          <p:cNvSpPr txBox="1"/>
          <p:nvPr/>
        </p:nvSpPr>
        <p:spPr>
          <a:xfrm>
            <a:off x="4041648" y="3310128"/>
            <a:ext cx="411480" cy="411480"/>
          </a:xfrm>
          <a:prstGeom prst="rect">
            <a:avLst/>
          </a:prstGeom>
          <a:noFill/>
        </p:spPr>
        <p:txBody>
          <a:bodyPr wrap="none" lIns="27432" rIns="27432" tIns="18288" bIns="18288" anchor="t">
            <a:spAutoFit/>
          </a:bodyPr>
          <a:lstStyle/>
          <a:p>
            <a:pPr algn="ctr">
              <a:defRPr sz="2500" b="1">
                <a:solidFill>
                  <a:srgbClr val="1F2A2E"/>
                </a:solidFill>
                <a:latin typeface="Aptos"/>
              </a:defRPr>
            </a:pPr>
            <a:r>
              <a:t>+</a:t>
            </a:r>
          </a:p>
        </p:txBody>
      </p:sp>
      <p:sp>
        <p:nvSpPr>
          <p:cNvPr id="8" name="Rounded Rectangle 7"/>
          <p:cNvSpPr/>
          <p:nvPr/>
        </p:nvSpPr>
        <p:spPr>
          <a:xfrm>
            <a:off x="4709160" y="2880360"/>
            <a:ext cx="2743200" cy="141732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3182112"/>
            <a:ext cx="2377440" cy="320040"/>
          </a:xfrm>
          <a:prstGeom prst="rect">
            <a:avLst/>
          </a:prstGeom>
          <a:noFill/>
        </p:spPr>
        <p:txBody>
          <a:bodyPr wrap="none" lIns="27432" rIns="27432" tIns="18288" bIns="18288" anchor="t">
            <a:spAutoFit/>
          </a:bodyPr>
          <a:lstStyle/>
          <a:p>
            <a:pPr algn="ctr">
              <a:defRPr sz="1800" b="1">
                <a:solidFill>
                  <a:srgbClr val="E07A3B"/>
                </a:solidFill>
                <a:latin typeface="Aptos"/>
              </a:defRPr>
            </a:pPr>
            <a:r>
              <a:t>fixed noise</a:t>
            </a:r>
          </a:p>
        </p:txBody>
      </p:sp>
      <p:sp>
        <p:nvSpPr>
          <p:cNvPr id="10" name="TextBox 9"/>
          <p:cNvSpPr txBox="1"/>
          <p:nvPr/>
        </p:nvSpPr>
        <p:spPr>
          <a:xfrm>
            <a:off x="4892040" y="3703320"/>
            <a:ext cx="2377440" cy="274320"/>
          </a:xfrm>
          <a:prstGeom prst="rect">
            <a:avLst/>
          </a:prstGeom>
          <a:noFill/>
        </p:spPr>
        <p:txBody>
          <a:bodyPr wrap="none" lIns="27432" rIns="27432" tIns="18288" bIns="18288" anchor="t">
            <a:spAutoFit/>
          </a:bodyPr>
          <a:lstStyle/>
          <a:p>
            <a:pPr algn="ctr">
              <a:defRPr sz="1400" b="0">
                <a:solidFill>
                  <a:srgbClr val="5F6D71"/>
                </a:solidFill>
                <a:latin typeface="Aptos"/>
              </a:defRPr>
            </a:pPr>
            <a:r>
              <a:t>ε ~ N(0, I)</a:t>
            </a:r>
          </a:p>
        </p:txBody>
      </p:sp>
      <p:sp>
        <p:nvSpPr>
          <p:cNvPr id="11" name="TextBox 10"/>
          <p:cNvSpPr txBox="1"/>
          <p:nvPr/>
        </p:nvSpPr>
        <p:spPr>
          <a:xfrm>
            <a:off x="7744968" y="3310128"/>
            <a:ext cx="411480" cy="411480"/>
          </a:xfrm>
          <a:prstGeom prst="rect">
            <a:avLst/>
          </a:prstGeom>
          <a:noFill/>
        </p:spPr>
        <p:txBody>
          <a:bodyPr wrap="none" lIns="27432" rIns="27432" tIns="18288" bIns="18288" anchor="t">
            <a:spAutoFit/>
          </a:bodyPr>
          <a:lstStyle/>
          <a:p>
            <a:pPr algn="ctr">
              <a:defRPr sz="2500" b="1">
                <a:solidFill>
                  <a:srgbClr val="1F2A2E"/>
                </a:solidFill>
                <a:latin typeface="Aptos"/>
              </a:defRPr>
            </a:pPr>
            <a:r>
              <a:t>+</a:t>
            </a:r>
          </a:p>
        </p:txBody>
      </p:sp>
      <p:sp>
        <p:nvSpPr>
          <p:cNvPr id="12" name="Rounded Rectangle 11"/>
          <p:cNvSpPr/>
          <p:nvPr/>
        </p:nvSpPr>
        <p:spPr>
          <a:xfrm>
            <a:off x="8412480" y="2880360"/>
            <a:ext cx="2743200" cy="141732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59" y="3182112"/>
            <a:ext cx="2377440" cy="320040"/>
          </a:xfrm>
          <a:prstGeom prst="rect">
            <a:avLst/>
          </a:prstGeom>
          <a:noFill/>
        </p:spPr>
        <p:txBody>
          <a:bodyPr wrap="none" lIns="27432" rIns="27432" tIns="18288" bIns="18288" anchor="t">
            <a:spAutoFit/>
          </a:bodyPr>
          <a:lstStyle/>
          <a:p>
            <a:pPr algn="ctr">
              <a:defRPr sz="1800" b="1">
                <a:solidFill>
                  <a:srgbClr val="00807A"/>
                </a:solidFill>
                <a:latin typeface="Aptos"/>
              </a:defRPr>
            </a:pPr>
            <a:r>
              <a:t>sample</a:t>
            </a:r>
          </a:p>
        </p:txBody>
      </p:sp>
      <p:sp>
        <p:nvSpPr>
          <p:cNvPr id="14" name="TextBox 13"/>
          <p:cNvSpPr txBox="1"/>
          <p:nvPr/>
        </p:nvSpPr>
        <p:spPr>
          <a:xfrm>
            <a:off x="8595359" y="3703320"/>
            <a:ext cx="2377440" cy="274320"/>
          </a:xfrm>
          <a:prstGeom prst="rect">
            <a:avLst/>
          </a:prstGeom>
          <a:noFill/>
        </p:spPr>
        <p:txBody>
          <a:bodyPr wrap="none" lIns="27432" rIns="27432" tIns="18288" bIns="18288" anchor="t">
            <a:spAutoFit/>
          </a:bodyPr>
          <a:lstStyle/>
          <a:p>
            <a:pPr algn="ctr">
              <a:defRPr sz="1400" b="0">
                <a:solidFill>
                  <a:srgbClr val="5F6D71"/>
                </a:solidFill>
                <a:latin typeface="Aptos"/>
              </a:defRPr>
            </a:pPr>
            <a:r>
              <a:t>differentiable z</a:t>
            </a:r>
          </a:p>
        </p:txBody>
      </p:sp>
      <p:sp>
        <p:nvSpPr>
          <p:cNvPr id="15" name="TextBox 14"/>
          <p:cNvSpPr txBox="1"/>
          <p:nvPr/>
        </p:nvSpPr>
        <p:spPr>
          <a:xfrm>
            <a:off x="914400" y="5166360"/>
            <a:ext cx="10332720" cy="384048"/>
          </a:xfrm>
          <a:prstGeom prst="rect">
            <a:avLst/>
          </a:prstGeom>
          <a:noFill/>
        </p:spPr>
        <p:txBody>
          <a:bodyPr wrap="none" lIns="27432" rIns="27432" tIns="18288" bIns="18288" anchor="t">
            <a:spAutoFit/>
          </a:bodyPr>
          <a:lstStyle/>
          <a:p>
            <a:pPr algn="ctr">
              <a:defRPr sz="1800" b="1">
                <a:solidFill>
                  <a:srgbClr val="1F2A2E"/>
                </a:solidFill>
                <a:latin typeface="Aptos"/>
              </a:defRPr>
            </a:pPr>
            <a:r>
              <a:t>Randomness is moved into ε, leaving a differentiable deterministic transformation.</a:t>
            </a:r>
          </a:p>
        </p:txBody>
      </p:sp>
      <p:sp>
        <p:nvSpPr>
          <p:cNvPr id="16" name="TextBox 1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 latent space is useful only when validated</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vae_latent.png"/>
          <p:cNvPicPr>
            <a:picLocks noChangeAspect="1"/>
          </p:cNvPicPr>
          <p:nvPr/>
        </p:nvPicPr>
        <p:blipFill>
          <a:blip r:embed="rId2"/>
          <a:stretch>
            <a:fillRect/>
          </a:stretch>
        </p:blipFill>
        <p:spPr>
          <a:xfrm>
            <a:off x="4036844" y="1389888"/>
            <a:ext cx="4133550"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A two-dimensional code can separate structure, but orientation and scale are generally not identifiable.</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04_standard_vae.ipynb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5</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LFADS</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A sequential VAE for latent neural dynamics</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5</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LFADS separates inferred initial condition, dynamics, and rates</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fads_architecture.png"/>
          <p:cNvPicPr>
            <a:picLocks noChangeAspect="1"/>
          </p:cNvPicPr>
          <p:nvPr/>
        </p:nvPicPr>
        <p:blipFill>
          <a:blip r:embed="rId2"/>
          <a:stretch>
            <a:fillRect/>
          </a:stretch>
        </p:blipFill>
        <p:spPr>
          <a:xfrm>
            <a:off x="1516657" y="1389888"/>
            <a:ext cx="9173925"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An encoder infers a distribution over initial generator state; recurrent dynamics produce factors and firing rates.</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06_lfads.ipynb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The sequential ELBO assigns uncertainty to a trajectory</a:t>
            </a:r>
          </a:p>
        </p:txBody>
      </p:sp>
      <p:sp>
        <p:nvSpPr>
          <p:cNvPr id="3" name="Rounded Rectangle 2"/>
          <p:cNvSpPr/>
          <p:nvPr/>
        </p:nvSpPr>
        <p:spPr>
          <a:xfrm>
            <a:off x="685800" y="1554480"/>
            <a:ext cx="3474720" cy="3108960"/>
          </a:xfrm>
          <a:prstGeom prst="roundRect">
            <a:avLst>
              <a:gd name="adj" fmla="val 8000"/>
            </a:avLst>
          </a:prstGeom>
          <a:solidFill>
            <a:srgbClr val="FFFFFF"/>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01952"/>
            <a:ext cx="3017520" cy="502920"/>
          </a:xfrm>
          <a:prstGeom prst="rect">
            <a:avLst/>
          </a:prstGeom>
          <a:noFill/>
        </p:spPr>
        <p:txBody>
          <a:bodyPr wrap="none" lIns="27432" rIns="27432" tIns="18288" bIns="18288" anchor="t">
            <a:spAutoFit/>
          </a:bodyPr>
          <a:lstStyle/>
          <a:p>
            <a:pPr algn="ctr">
              <a:defRPr sz="1800" b="1">
                <a:solidFill>
                  <a:srgbClr val="32659C"/>
                </a:solidFill>
                <a:latin typeface="Aptos"/>
              </a:defRPr>
            </a:pPr>
            <a:r>
              <a:t>Poisson reconstruction</a:t>
            </a:r>
          </a:p>
        </p:txBody>
      </p:sp>
      <p:sp>
        <p:nvSpPr>
          <p:cNvPr id="5" name="TextBox 4"/>
          <p:cNvSpPr txBox="1"/>
          <p:nvPr/>
        </p:nvSpPr>
        <p:spPr>
          <a:xfrm>
            <a:off x="1005840" y="2898648"/>
            <a:ext cx="2834640" cy="960120"/>
          </a:xfrm>
          <a:prstGeom prst="rect">
            <a:avLst/>
          </a:prstGeom>
          <a:noFill/>
        </p:spPr>
        <p:txBody>
          <a:bodyPr wrap="none" lIns="27432" rIns="27432" tIns="18288" bIns="18288" anchor="t">
            <a:spAutoFit/>
          </a:bodyPr>
          <a:lstStyle/>
          <a:p>
            <a:pPr algn="ctr">
              <a:defRPr sz="1300" b="0">
                <a:solidFill>
                  <a:srgbClr val="5F6D71"/>
                </a:solidFill>
                <a:latin typeface="Aptos"/>
              </a:defRPr>
            </a:pPr>
            <a:r>
              <a:t>Do inferred rates explain</a:t>
            </a:r>
            <a:br/>
            <a:r>
              <a:t>held-out spikes?</a:t>
            </a:r>
          </a:p>
        </p:txBody>
      </p:sp>
      <p:sp>
        <p:nvSpPr>
          <p:cNvPr id="6" name="Rounded Rectangle 5"/>
          <p:cNvSpPr/>
          <p:nvPr/>
        </p:nvSpPr>
        <p:spPr>
          <a:xfrm>
            <a:off x="4343400" y="1554480"/>
            <a:ext cx="3474720" cy="3108960"/>
          </a:xfrm>
          <a:prstGeom prst="roundRect">
            <a:avLst>
              <a:gd name="adj" fmla="val 8000"/>
            </a:avLst>
          </a:prstGeom>
          <a:solidFill>
            <a:srgbClr val="FFFFFF"/>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17520" cy="502920"/>
          </a:xfrm>
          <a:prstGeom prst="rect">
            <a:avLst/>
          </a:prstGeom>
          <a:noFill/>
        </p:spPr>
        <p:txBody>
          <a:bodyPr wrap="none" lIns="27432" rIns="27432" tIns="18288" bIns="18288" anchor="t">
            <a:spAutoFit/>
          </a:bodyPr>
          <a:lstStyle/>
          <a:p>
            <a:pPr algn="ctr">
              <a:defRPr sz="1800" b="1">
                <a:solidFill>
                  <a:srgbClr val="00807A"/>
                </a:solidFill>
                <a:latin typeface="Aptos"/>
              </a:defRPr>
            </a:pPr>
            <a:r>
              <a:t>Initial-state KL</a:t>
            </a:r>
          </a:p>
        </p:txBody>
      </p:sp>
      <p:sp>
        <p:nvSpPr>
          <p:cNvPr id="8" name="TextBox 7"/>
          <p:cNvSpPr txBox="1"/>
          <p:nvPr/>
        </p:nvSpPr>
        <p:spPr>
          <a:xfrm>
            <a:off x="4663440" y="2898648"/>
            <a:ext cx="2834640" cy="960120"/>
          </a:xfrm>
          <a:prstGeom prst="rect">
            <a:avLst/>
          </a:prstGeom>
          <a:noFill/>
        </p:spPr>
        <p:txBody>
          <a:bodyPr wrap="none" lIns="27432" rIns="27432" tIns="18288" bIns="18288" anchor="t">
            <a:spAutoFit/>
          </a:bodyPr>
          <a:lstStyle/>
          <a:p>
            <a:pPr algn="ctr">
              <a:defRPr sz="1300" b="0">
                <a:solidFill>
                  <a:srgbClr val="5F6D71"/>
                </a:solidFill>
                <a:latin typeface="Aptos"/>
              </a:defRPr>
            </a:pPr>
            <a:r>
              <a:t>How much trial-specific</a:t>
            </a:r>
            <a:br/>
            <a:r>
              <a:t>information enters g0?</a:t>
            </a:r>
          </a:p>
        </p:txBody>
      </p:sp>
      <p:sp>
        <p:nvSpPr>
          <p:cNvPr id="9" name="Rounded Rectangle 8"/>
          <p:cNvSpPr/>
          <p:nvPr/>
        </p:nvSpPr>
        <p:spPr>
          <a:xfrm>
            <a:off x="8001000" y="1554480"/>
            <a:ext cx="3474720" cy="3108960"/>
          </a:xfrm>
          <a:prstGeom prst="roundRect">
            <a:avLst>
              <a:gd name="adj" fmla="val 8000"/>
            </a:avLst>
          </a:prstGeom>
          <a:solidFill>
            <a:srgbClr val="FFFFFF"/>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502920"/>
          </a:xfrm>
          <a:prstGeom prst="rect">
            <a:avLst/>
          </a:prstGeom>
          <a:noFill/>
        </p:spPr>
        <p:txBody>
          <a:bodyPr wrap="none" lIns="27432" rIns="27432" tIns="18288" bIns="18288" anchor="t">
            <a:spAutoFit/>
          </a:bodyPr>
          <a:lstStyle/>
          <a:p>
            <a:pPr algn="ctr">
              <a:defRPr sz="1800" b="1">
                <a:solidFill>
                  <a:srgbClr val="E07A3B"/>
                </a:solidFill>
                <a:latin typeface="Aptos"/>
              </a:defRPr>
            </a:pPr>
            <a:r>
              <a:t>Input KL</a:t>
            </a:r>
          </a:p>
        </p:txBody>
      </p:sp>
      <p:sp>
        <p:nvSpPr>
          <p:cNvPr id="11" name="TextBox 10"/>
          <p:cNvSpPr txBox="1"/>
          <p:nvPr/>
        </p:nvSpPr>
        <p:spPr>
          <a:xfrm>
            <a:off x="8321040" y="2898648"/>
            <a:ext cx="2834640" cy="960120"/>
          </a:xfrm>
          <a:prstGeom prst="rect">
            <a:avLst/>
          </a:prstGeom>
          <a:noFill/>
        </p:spPr>
        <p:txBody>
          <a:bodyPr wrap="none" lIns="27432" rIns="27432" tIns="18288" bIns="18288" anchor="t">
            <a:spAutoFit/>
          </a:bodyPr>
          <a:lstStyle/>
          <a:p>
            <a:pPr algn="ctr">
              <a:defRPr sz="1300" b="0">
                <a:solidFill>
                  <a:srgbClr val="5F6D71"/>
                </a:solidFill>
                <a:latin typeface="Aptos"/>
              </a:defRPr>
            </a:pPr>
            <a:r>
              <a:t>Are inferred perturbations</a:t>
            </a:r>
            <a:br/>
            <a:r>
              <a:t>necessary and plausible?</a:t>
            </a:r>
          </a:p>
        </p:txBody>
      </p:sp>
      <p:sp>
        <p:nvSpPr>
          <p:cNvPr id="12" name="TextBox 11"/>
          <p:cNvSpPr txBox="1"/>
          <p:nvPr/>
        </p:nvSpPr>
        <p:spPr>
          <a:xfrm>
            <a:off x="1005840" y="5303520"/>
            <a:ext cx="10149840" cy="365760"/>
          </a:xfrm>
          <a:prstGeom prst="rect">
            <a:avLst/>
          </a:prstGeom>
          <a:noFill/>
        </p:spPr>
        <p:txBody>
          <a:bodyPr wrap="none" lIns="27432" rIns="27432" tIns="18288" bIns="18288" anchor="t">
            <a:spAutoFit/>
          </a:bodyPr>
          <a:lstStyle/>
          <a:p>
            <a:pPr algn="ctr">
              <a:defRPr sz="1900" b="1">
                <a:solidFill>
                  <a:srgbClr val="E07A3B"/>
                </a:solidFill>
                <a:latin typeface="Aptos"/>
              </a:defRPr>
            </a:pPr>
            <a:r>
              <a:t>Scientific danger: inferred inputs can absorb model mismatch.</a:t>
            </a:r>
          </a:p>
        </p:txBody>
      </p:sp>
      <p:sp>
        <p:nvSpPr>
          <p:cNvPr id="13" name="TextBox 12"/>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Learned dynamics must generalize beyond training trajectories</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fads_dynamics.png"/>
          <p:cNvPicPr>
            <a:picLocks noChangeAspect="1"/>
          </p:cNvPicPr>
          <p:nvPr/>
        </p:nvPicPr>
        <p:blipFill>
          <a:blip r:embed="rId2"/>
          <a:stretch>
            <a:fillRect/>
          </a:stretch>
        </p:blipFill>
        <p:spPr>
          <a:xfrm>
            <a:off x="3098443" y="1389888"/>
            <a:ext cx="6010353"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Compare learned and true vector fields, not only reconstructed observations.</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06_lfads.ipynb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310896"/>
            <a:ext cx="5303520" cy="274320"/>
          </a:xfrm>
          <a:prstGeom prst="rect">
            <a:avLst/>
          </a:prstGeom>
          <a:noFill/>
        </p:spPr>
        <p:txBody>
          <a:bodyPr wrap="none" lIns="27432" rIns="27432" tIns="18288" bIns="18288" anchor="t">
            <a:spAutoFit/>
          </a:bodyPr>
          <a:lstStyle/>
          <a:p>
            <a:pPr algn="l">
              <a:defRPr sz="1000" b="1">
                <a:solidFill>
                  <a:srgbClr val="EBBB44"/>
                </a:solidFill>
                <a:latin typeface="Aptos"/>
              </a:defRPr>
            </a:pPr>
            <a:r>
              <a:t>PART 6</a:t>
            </a:r>
          </a:p>
        </p:txBody>
      </p:sp>
      <p:sp>
        <p:nvSpPr>
          <p:cNvPr id="3" name="TextBox 2"/>
          <p:cNvSpPr txBox="1"/>
          <p:nvPr/>
        </p:nvSpPr>
        <p:spPr>
          <a:xfrm>
            <a:off x="594360" y="6583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gpSLDS</a:t>
            </a:r>
          </a:p>
        </p:txBody>
      </p:sp>
      <p:sp>
        <p:nvSpPr>
          <p:cNvPr id="4" name="TextBox 3"/>
          <p:cNvSpPr txBox="1"/>
          <p:nvPr/>
        </p:nvSpPr>
        <p:spPr>
          <a:xfrm>
            <a:off x="621792" y="1828800"/>
            <a:ext cx="9875520" cy="731520"/>
          </a:xfrm>
          <a:prstGeom prst="rect">
            <a:avLst/>
          </a:prstGeom>
          <a:noFill/>
        </p:spPr>
        <p:txBody>
          <a:bodyPr wrap="none" lIns="27432" rIns="27432" tIns="18288" bIns="18288" anchor="t">
            <a:spAutoFit/>
          </a:bodyPr>
          <a:lstStyle/>
          <a:p>
            <a:pPr algn="l">
              <a:defRPr sz="2200" b="0">
                <a:solidFill>
                  <a:srgbClr val="CBD7D8"/>
                </a:solidFill>
                <a:latin typeface="Aptos"/>
              </a:defRPr>
            </a:pPr>
            <a:r>
              <a:t>Nonlinear dynamics assembled from interpretable local regimes</a:t>
            </a:r>
          </a:p>
        </p:txBody>
      </p:sp>
      <p:sp>
        <p:nvSpPr>
          <p:cNvPr id="5" name="TextBox 4"/>
          <p:cNvSpPr txBox="1"/>
          <p:nvPr/>
        </p:nvSpPr>
        <p:spPr>
          <a:xfrm>
            <a:off x="9921240" y="3246120"/>
            <a:ext cx="1463040" cy="1463040"/>
          </a:xfrm>
          <a:prstGeom prst="rect">
            <a:avLst/>
          </a:prstGeom>
          <a:noFill/>
        </p:spPr>
        <p:txBody>
          <a:bodyPr wrap="none" lIns="27432" rIns="27432" tIns="18288" bIns="18288" anchor="ctr">
            <a:spAutoFit/>
          </a:bodyPr>
          <a:lstStyle/>
          <a:p>
            <a:pPr algn="ctr">
              <a:defRPr sz="7400" b="1">
                <a:solidFill>
                  <a:srgbClr val="00807A"/>
                </a:solidFill>
                <a:latin typeface="Aptos"/>
              </a:defRPr>
            </a:pPr>
            <a:r>
              <a:t>6</a:t>
            </a:r>
          </a:p>
        </p:txBody>
      </p:sp>
      <p:sp>
        <p:nvSpPr>
          <p:cNvPr id="6" name="TextBox 5"/>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gpSLDS: nonlinear dynamics with local regimes</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pslds_architecture.png"/>
          <p:cNvPicPr>
            <a:picLocks noChangeAspect="1"/>
          </p:cNvPicPr>
          <p:nvPr/>
        </p:nvPicPr>
        <p:blipFill>
          <a:blip r:embed="rId2"/>
          <a:stretch>
            <a:fillRect/>
          </a:stretch>
        </p:blipFill>
        <p:spPr>
          <a:xfrm>
            <a:off x="1444950" y="1389888"/>
            <a:ext cx="9317338" cy="4251960"/>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A smoothly switching kernel blends local linear dynamics within a global nonlinear field.</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08_gpslds.ipynb; model: Hu et al., NeurIPS 2024</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Local linear structure makes nonlinear dynamics inspectable</a:t>
            </a:r>
          </a:p>
        </p:txBody>
      </p:sp>
      <p:sp>
        <p:nvSpPr>
          <p:cNvPr id="3" name="Rounded Rectangle 2"/>
          <p:cNvSpPr/>
          <p:nvPr/>
        </p:nvSpPr>
        <p:spPr>
          <a:xfrm>
            <a:off x="640080" y="1234440"/>
            <a:ext cx="10927080" cy="4919472"/>
          </a:xfrm>
          <a:prstGeom prst="roundRect">
            <a:avLst>
              <a:gd name="adj" fmla="val 8000"/>
            </a:avLst>
          </a:prstGeom>
          <a:solidFill>
            <a:srgbClr val="FFFFFF"/>
          </a:solidFill>
          <a:ln>
            <a:solidFill>
              <a:srgbClr val="E2E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pslds_local.png"/>
          <p:cNvPicPr>
            <a:picLocks noChangeAspect="1"/>
          </p:cNvPicPr>
          <p:nvPr/>
        </p:nvPicPr>
        <p:blipFill>
          <a:blip r:embed="rId2"/>
          <a:stretch>
            <a:fillRect/>
          </a:stretch>
        </p:blipFill>
        <p:spPr>
          <a:xfrm>
            <a:off x="822960" y="1915433"/>
            <a:ext cx="10561320" cy="3200868"/>
          </a:xfrm>
          <a:prstGeom prst="rect">
            <a:avLst/>
          </a:prstGeom>
        </p:spPr>
      </p:pic>
      <p:sp>
        <p:nvSpPr>
          <p:cNvPr id="5" name="TextBox 4"/>
          <p:cNvSpPr txBox="1"/>
          <p:nvPr/>
        </p:nvSpPr>
        <p:spPr>
          <a:xfrm>
            <a:off x="877824" y="5715000"/>
            <a:ext cx="10241280" cy="256032"/>
          </a:xfrm>
          <a:prstGeom prst="rect">
            <a:avLst/>
          </a:prstGeom>
          <a:noFill/>
        </p:spPr>
        <p:txBody>
          <a:bodyPr wrap="none" lIns="27432" rIns="27432" tIns="18288" bIns="18288" anchor="t">
            <a:spAutoFit/>
          </a:bodyPr>
          <a:lstStyle/>
          <a:p>
            <a:pPr algn="ctr">
              <a:defRPr sz="1100" b="0">
                <a:solidFill>
                  <a:srgbClr val="5F6D71"/>
                </a:solidFill>
                <a:latin typeface="Aptos"/>
              </a:defRPr>
            </a:pPr>
            <a:r>
              <a:t>Regime weights partition latent space smoothly; local Jacobians support fixed-point and stability analysis.</a:t>
            </a:r>
          </a:p>
        </p:txBody>
      </p:sp>
      <p:sp>
        <p:nvSpPr>
          <p:cNvPr id="6" name="TextBox 5"/>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879395"/>
                </a:solidFill>
                <a:latin typeface="Aptos"/>
              </a:defRPr>
            </a:pPr>
            <a:r>
              <a:t>Source: executed notebook 08_gpslds.ipynb</a:t>
            </a:r>
          </a:p>
        </p:txBody>
      </p:sp>
      <p:sp>
        <p:nvSpPr>
          <p:cNvPr id="7" name="TextBox 6"/>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Choose the simplest model that answers the scientific question</a:t>
            </a:r>
          </a:p>
        </p:txBody>
      </p:sp>
      <p:sp>
        <p:nvSpPr>
          <p:cNvPr id="3" name="Rectangle 2"/>
          <p:cNvSpPr/>
          <p:nvPr/>
        </p:nvSpPr>
        <p:spPr>
          <a:xfrm>
            <a:off x="502920" y="1234440"/>
            <a:ext cx="1325880" cy="502920"/>
          </a:xfrm>
          <a:prstGeom prst="rect">
            <a:avLst/>
          </a:prstGeom>
          <a:solidFill>
            <a:srgbClr val="1F2A2E"/>
          </a:solidFill>
          <a:ln>
            <a:solidFill>
              <a:srgbClr val="1F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72" y="1371600"/>
            <a:ext cx="1179576" cy="228600"/>
          </a:xfrm>
          <a:prstGeom prst="rect">
            <a:avLst/>
          </a:prstGeom>
          <a:noFill/>
        </p:spPr>
        <p:txBody>
          <a:bodyPr wrap="none" lIns="27432" rIns="27432" tIns="18288" bIns="18288" anchor="t">
            <a:spAutoFit/>
          </a:bodyPr>
          <a:lstStyle/>
          <a:p>
            <a:pPr algn="ctr">
              <a:defRPr sz="1200" b="1">
                <a:solidFill>
                  <a:srgbClr val="FFFFFF"/>
                </a:solidFill>
                <a:latin typeface="Aptos"/>
              </a:defRPr>
            </a:pPr>
            <a:r>
              <a:t>Model</a:t>
            </a:r>
          </a:p>
        </p:txBody>
      </p:sp>
      <p:sp>
        <p:nvSpPr>
          <p:cNvPr id="5" name="Rectangle 4"/>
          <p:cNvSpPr/>
          <p:nvPr/>
        </p:nvSpPr>
        <p:spPr>
          <a:xfrm>
            <a:off x="1920240" y="1234440"/>
            <a:ext cx="2606040" cy="502920"/>
          </a:xfrm>
          <a:prstGeom prst="rect">
            <a:avLst/>
          </a:prstGeom>
          <a:solidFill>
            <a:srgbClr val="1F2A2E"/>
          </a:solidFill>
          <a:ln>
            <a:solidFill>
              <a:srgbClr val="1F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93392" y="1371600"/>
            <a:ext cx="2459736" cy="228600"/>
          </a:xfrm>
          <a:prstGeom prst="rect">
            <a:avLst/>
          </a:prstGeom>
          <a:noFill/>
        </p:spPr>
        <p:txBody>
          <a:bodyPr wrap="none" lIns="27432" rIns="27432" tIns="18288" bIns="18288" anchor="t">
            <a:spAutoFit/>
          </a:bodyPr>
          <a:lstStyle/>
          <a:p>
            <a:pPr algn="ctr">
              <a:defRPr sz="1200" b="1">
                <a:solidFill>
                  <a:srgbClr val="FFFFFF"/>
                </a:solidFill>
                <a:latin typeface="Aptos"/>
              </a:defRPr>
            </a:pPr>
            <a:r>
              <a:t>Latent structure</a:t>
            </a:r>
          </a:p>
        </p:txBody>
      </p:sp>
      <p:sp>
        <p:nvSpPr>
          <p:cNvPr id="7" name="Rectangle 6"/>
          <p:cNvSpPr/>
          <p:nvPr/>
        </p:nvSpPr>
        <p:spPr>
          <a:xfrm>
            <a:off x="4617720" y="1234440"/>
            <a:ext cx="2788920" cy="502920"/>
          </a:xfrm>
          <a:prstGeom prst="rect">
            <a:avLst/>
          </a:prstGeom>
          <a:solidFill>
            <a:srgbClr val="1F2A2E"/>
          </a:solidFill>
          <a:ln>
            <a:solidFill>
              <a:srgbClr val="1F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1371600"/>
            <a:ext cx="2642615" cy="228600"/>
          </a:xfrm>
          <a:prstGeom prst="rect">
            <a:avLst/>
          </a:prstGeom>
          <a:noFill/>
        </p:spPr>
        <p:txBody>
          <a:bodyPr wrap="none" lIns="27432" rIns="27432" tIns="18288" bIns="18288" anchor="t">
            <a:spAutoFit/>
          </a:bodyPr>
          <a:lstStyle/>
          <a:p>
            <a:pPr algn="ctr">
              <a:defRPr sz="1200" b="1">
                <a:solidFill>
                  <a:srgbClr val="FFFFFF"/>
                </a:solidFill>
                <a:latin typeface="Aptos"/>
              </a:defRPr>
            </a:pPr>
            <a:r>
              <a:t>Inference</a:t>
            </a:r>
          </a:p>
        </p:txBody>
      </p:sp>
      <p:sp>
        <p:nvSpPr>
          <p:cNvPr id="9" name="Rectangle 8"/>
          <p:cNvSpPr/>
          <p:nvPr/>
        </p:nvSpPr>
        <p:spPr>
          <a:xfrm>
            <a:off x="7543800" y="1234440"/>
            <a:ext cx="4069080" cy="502920"/>
          </a:xfrm>
          <a:prstGeom prst="rect">
            <a:avLst/>
          </a:prstGeom>
          <a:solidFill>
            <a:srgbClr val="1F2A2E"/>
          </a:solidFill>
          <a:ln>
            <a:solidFill>
              <a:srgbClr val="1F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371600"/>
            <a:ext cx="3922776" cy="228600"/>
          </a:xfrm>
          <a:prstGeom prst="rect">
            <a:avLst/>
          </a:prstGeom>
          <a:noFill/>
        </p:spPr>
        <p:txBody>
          <a:bodyPr wrap="none" lIns="27432" rIns="27432" tIns="18288" bIns="18288" anchor="t">
            <a:spAutoFit/>
          </a:bodyPr>
          <a:lstStyle/>
          <a:p>
            <a:pPr algn="ctr">
              <a:defRPr sz="1200" b="1">
                <a:solidFill>
                  <a:srgbClr val="FFFFFF"/>
                </a:solidFill>
                <a:latin typeface="Aptos"/>
              </a:defRPr>
            </a:pPr>
            <a:r>
              <a:t>Best use</a:t>
            </a:r>
          </a:p>
        </p:txBody>
      </p:sp>
      <p:sp>
        <p:nvSpPr>
          <p:cNvPr id="11" name="Rectangle 10"/>
          <p:cNvSpPr/>
          <p:nvPr/>
        </p:nvSpPr>
        <p:spPr>
          <a:xfrm>
            <a:off x="502920" y="1810512"/>
            <a:ext cx="13258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93392"/>
            <a:ext cx="1143000" cy="301752"/>
          </a:xfrm>
          <a:prstGeom prst="rect">
            <a:avLst/>
          </a:prstGeom>
          <a:noFill/>
        </p:spPr>
        <p:txBody>
          <a:bodyPr wrap="none" lIns="27432" rIns="27432" tIns="18288" bIns="18288" anchor="t">
            <a:spAutoFit/>
          </a:bodyPr>
          <a:lstStyle/>
          <a:p>
            <a:pPr algn="ctr">
              <a:defRPr sz="1300" b="1">
                <a:solidFill>
                  <a:srgbClr val="1F2A2E"/>
                </a:solidFill>
                <a:latin typeface="Aptos"/>
              </a:defRPr>
            </a:pPr>
            <a:r>
              <a:t>GMM</a:t>
            </a:r>
          </a:p>
        </p:txBody>
      </p:sp>
      <p:sp>
        <p:nvSpPr>
          <p:cNvPr id="13" name="Rectangle 12"/>
          <p:cNvSpPr/>
          <p:nvPr/>
        </p:nvSpPr>
        <p:spPr>
          <a:xfrm>
            <a:off x="1920240" y="1810512"/>
            <a:ext cx="260604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1993392"/>
            <a:ext cx="242316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discrete class</a:t>
            </a:r>
          </a:p>
        </p:txBody>
      </p:sp>
      <p:sp>
        <p:nvSpPr>
          <p:cNvPr id="15" name="Rectangle 14"/>
          <p:cNvSpPr/>
          <p:nvPr/>
        </p:nvSpPr>
        <p:spPr>
          <a:xfrm>
            <a:off x="4617720" y="1810512"/>
            <a:ext cx="278892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59" y="1993392"/>
            <a:ext cx="2606039"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exact EM</a:t>
            </a:r>
          </a:p>
        </p:txBody>
      </p:sp>
      <p:sp>
        <p:nvSpPr>
          <p:cNvPr id="17" name="Rectangle 16"/>
          <p:cNvSpPr/>
          <p:nvPr/>
        </p:nvSpPr>
        <p:spPr>
          <a:xfrm>
            <a:off x="7543800" y="1810512"/>
            <a:ext cx="40690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1993392"/>
            <a:ext cx="38862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heterogeneous populations</a:t>
            </a:r>
          </a:p>
        </p:txBody>
      </p:sp>
      <p:sp>
        <p:nvSpPr>
          <p:cNvPr id="19" name="Rectangle 18"/>
          <p:cNvSpPr/>
          <p:nvPr/>
        </p:nvSpPr>
        <p:spPr>
          <a:xfrm>
            <a:off x="502920" y="2642616"/>
            <a:ext cx="132588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825496"/>
            <a:ext cx="11430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HMM</a:t>
            </a:r>
          </a:p>
        </p:txBody>
      </p:sp>
      <p:sp>
        <p:nvSpPr>
          <p:cNvPr id="21" name="Rectangle 20"/>
          <p:cNvSpPr/>
          <p:nvPr/>
        </p:nvSpPr>
        <p:spPr>
          <a:xfrm>
            <a:off x="1920240" y="2642616"/>
            <a:ext cx="260604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0" y="2825496"/>
            <a:ext cx="242316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discrete sequence</a:t>
            </a:r>
          </a:p>
        </p:txBody>
      </p:sp>
      <p:sp>
        <p:nvSpPr>
          <p:cNvPr id="23" name="Rectangle 22"/>
          <p:cNvSpPr/>
          <p:nvPr/>
        </p:nvSpPr>
        <p:spPr>
          <a:xfrm>
            <a:off x="4617720" y="2642616"/>
            <a:ext cx="278892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59" y="2825496"/>
            <a:ext cx="2606039"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forward-backward</a:t>
            </a:r>
          </a:p>
        </p:txBody>
      </p:sp>
      <p:sp>
        <p:nvSpPr>
          <p:cNvPr id="25" name="Rectangle 24"/>
          <p:cNvSpPr/>
          <p:nvPr/>
        </p:nvSpPr>
        <p:spPr>
          <a:xfrm>
            <a:off x="7543800" y="2642616"/>
            <a:ext cx="406908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2825496"/>
            <a:ext cx="38862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recurring temporal regimes</a:t>
            </a:r>
          </a:p>
        </p:txBody>
      </p:sp>
      <p:sp>
        <p:nvSpPr>
          <p:cNvPr id="27" name="Rectangle 26"/>
          <p:cNvSpPr/>
          <p:nvPr/>
        </p:nvSpPr>
        <p:spPr>
          <a:xfrm>
            <a:off x="502920" y="3474720"/>
            <a:ext cx="13258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657600"/>
            <a:ext cx="11430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VAE</a:t>
            </a:r>
          </a:p>
        </p:txBody>
      </p:sp>
      <p:sp>
        <p:nvSpPr>
          <p:cNvPr id="29" name="Rectangle 28"/>
          <p:cNvSpPr/>
          <p:nvPr/>
        </p:nvSpPr>
        <p:spPr>
          <a:xfrm>
            <a:off x="1920240" y="3474720"/>
            <a:ext cx="260604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0" y="3657600"/>
            <a:ext cx="242316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continuous code</a:t>
            </a:r>
          </a:p>
        </p:txBody>
      </p:sp>
      <p:sp>
        <p:nvSpPr>
          <p:cNvPr id="31" name="Rectangle 30"/>
          <p:cNvSpPr/>
          <p:nvPr/>
        </p:nvSpPr>
        <p:spPr>
          <a:xfrm>
            <a:off x="4617720" y="3474720"/>
            <a:ext cx="278892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59" y="3657600"/>
            <a:ext cx="2606039"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amortized VI</a:t>
            </a:r>
          </a:p>
        </p:txBody>
      </p:sp>
      <p:sp>
        <p:nvSpPr>
          <p:cNvPr id="33" name="Rectangle 32"/>
          <p:cNvSpPr/>
          <p:nvPr/>
        </p:nvSpPr>
        <p:spPr>
          <a:xfrm>
            <a:off x="7543800" y="3474720"/>
            <a:ext cx="40690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35240" y="3657600"/>
            <a:ext cx="38862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nonlinear representation</a:t>
            </a:r>
          </a:p>
        </p:txBody>
      </p:sp>
      <p:sp>
        <p:nvSpPr>
          <p:cNvPr id="35" name="Rectangle 34"/>
          <p:cNvSpPr/>
          <p:nvPr/>
        </p:nvSpPr>
        <p:spPr>
          <a:xfrm>
            <a:off x="502920" y="4306824"/>
            <a:ext cx="132588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489704"/>
            <a:ext cx="11430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LFADS</a:t>
            </a:r>
          </a:p>
        </p:txBody>
      </p:sp>
      <p:sp>
        <p:nvSpPr>
          <p:cNvPr id="37" name="Rectangle 36"/>
          <p:cNvSpPr/>
          <p:nvPr/>
        </p:nvSpPr>
        <p:spPr>
          <a:xfrm>
            <a:off x="1920240" y="4306824"/>
            <a:ext cx="260604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11680" y="4489704"/>
            <a:ext cx="242316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recurrent trajectory</a:t>
            </a:r>
          </a:p>
        </p:txBody>
      </p:sp>
      <p:sp>
        <p:nvSpPr>
          <p:cNvPr id="39" name="Rectangle 38"/>
          <p:cNvSpPr/>
          <p:nvPr/>
        </p:nvSpPr>
        <p:spPr>
          <a:xfrm>
            <a:off x="4617720" y="4306824"/>
            <a:ext cx="278892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09159" y="4489704"/>
            <a:ext cx="2606039"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sequential VI</a:t>
            </a:r>
          </a:p>
        </p:txBody>
      </p:sp>
      <p:sp>
        <p:nvSpPr>
          <p:cNvPr id="41" name="Rectangle 40"/>
          <p:cNvSpPr/>
          <p:nvPr/>
        </p:nvSpPr>
        <p:spPr>
          <a:xfrm>
            <a:off x="7543800" y="4306824"/>
            <a:ext cx="4069080" cy="713232"/>
          </a:xfrm>
          <a:prstGeom prst="rect">
            <a:avLst/>
          </a:prstGeom>
          <a:solidFill>
            <a:srgbClr val="EBF0EE"/>
          </a:solidFill>
          <a:ln>
            <a:solidFill>
              <a:srgbClr val="EBF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35240" y="4489704"/>
            <a:ext cx="38862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population spike dynamics</a:t>
            </a:r>
          </a:p>
        </p:txBody>
      </p:sp>
      <p:sp>
        <p:nvSpPr>
          <p:cNvPr id="43" name="Rectangle 42"/>
          <p:cNvSpPr/>
          <p:nvPr/>
        </p:nvSpPr>
        <p:spPr>
          <a:xfrm>
            <a:off x="502920" y="5138928"/>
            <a:ext cx="13258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5321808"/>
            <a:ext cx="11430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gpSLDS</a:t>
            </a:r>
          </a:p>
        </p:txBody>
      </p:sp>
      <p:sp>
        <p:nvSpPr>
          <p:cNvPr id="45" name="Rectangle 44"/>
          <p:cNvSpPr/>
          <p:nvPr/>
        </p:nvSpPr>
        <p:spPr>
          <a:xfrm>
            <a:off x="1920240" y="5138928"/>
            <a:ext cx="260604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0" y="5321808"/>
            <a:ext cx="242316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continuous + local regimes</a:t>
            </a:r>
          </a:p>
        </p:txBody>
      </p:sp>
      <p:sp>
        <p:nvSpPr>
          <p:cNvPr id="47" name="Rectangle 46"/>
          <p:cNvSpPr/>
          <p:nvPr/>
        </p:nvSpPr>
        <p:spPr>
          <a:xfrm>
            <a:off x="4617720" y="5138928"/>
            <a:ext cx="278892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09159" y="5321808"/>
            <a:ext cx="2606039"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variational GP</a:t>
            </a:r>
          </a:p>
        </p:txBody>
      </p:sp>
      <p:sp>
        <p:nvSpPr>
          <p:cNvPr id="49" name="Rectangle 48"/>
          <p:cNvSpPr/>
          <p:nvPr/>
        </p:nvSpPr>
        <p:spPr>
          <a:xfrm>
            <a:off x="7543800" y="5138928"/>
            <a:ext cx="4069080" cy="7132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35240" y="5321808"/>
            <a:ext cx="3886200" cy="301752"/>
          </a:xfrm>
          <a:prstGeom prst="rect">
            <a:avLst/>
          </a:prstGeom>
          <a:noFill/>
        </p:spPr>
        <p:txBody>
          <a:bodyPr wrap="none" lIns="27432" rIns="27432" tIns="18288" bIns="18288" anchor="t">
            <a:spAutoFit/>
          </a:bodyPr>
          <a:lstStyle/>
          <a:p>
            <a:pPr algn="ctr">
              <a:defRPr sz="1300" b="0">
                <a:solidFill>
                  <a:srgbClr val="1F2A2E"/>
                </a:solidFill>
                <a:latin typeface="Aptos"/>
              </a:defRPr>
            </a:pPr>
            <a:r>
              <a:t>interpretable nonlinear flow</a:t>
            </a:r>
          </a:p>
        </p:txBody>
      </p:sp>
      <p:sp>
        <p:nvSpPr>
          <p:cNvPr id="51" name="TextBox 50"/>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9F7"/>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1F2A2E"/>
                </a:solidFill>
                <a:latin typeface="Aptos"/>
              </a:defRPr>
            </a:pPr>
            <a:r>
              <a:t>A practical validation ladder</a:t>
            </a:r>
          </a:p>
        </p:txBody>
      </p:sp>
      <p:sp>
        <p:nvSpPr>
          <p:cNvPr id="3" name="Oval 2"/>
          <p:cNvSpPr/>
          <p:nvPr/>
        </p:nvSpPr>
        <p:spPr>
          <a:xfrm>
            <a:off x="822960" y="1234440"/>
            <a:ext cx="658368" cy="658368"/>
          </a:xfrm>
          <a:prstGeom prst="ellipse">
            <a:avLst/>
          </a:prstGeom>
          <a:solidFill>
            <a:srgbClr val="32659C"/>
          </a:solidFill>
          <a:ln>
            <a:solidFill>
              <a:srgbClr val="3265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 y="1399032"/>
            <a:ext cx="402336" cy="228600"/>
          </a:xfrm>
          <a:prstGeom prst="rect">
            <a:avLst/>
          </a:prstGeom>
          <a:noFill/>
        </p:spPr>
        <p:txBody>
          <a:bodyPr wrap="none" lIns="27432" rIns="27432" tIns="18288" bIns="18288" anchor="t">
            <a:spAutoFit/>
          </a:bodyPr>
          <a:lstStyle/>
          <a:p>
            <a:pPr algn="ctr">
              <a:defRPr sz="1500" b="1">
                <a:solidFill>
                  <a:srgbClr val="FFFFFF"/>
                </a:solidFill>
                <a:latin typeface="Aptos"/>
              </a:defRPr>
            </a:pPr>
            <a:r>
              <a:t>1</a:t>
            </a:r>
          </a:p>
        </p:txBody>
      </p:sp>
      <p:sp>
        <p:nvSpPr>
          <p:cNvPr id="5" name="TextBox 4"/>
          <p:cNvSpPr txBox="1"/>
          <p:nvPr/>
        </p:nvSpPr>
        <p:spPr>
          <a:xfrm>
            <a:off x="1828800" y="1261872"/>
            <a:ext cx="2194560" cy="320040"/>
          </a:xfrm>
          <a:prstGeom prst="rect">
            <a:avLst/>
          </a:prstGeom>
          <a:noFill/>
        </p:spPr>
        <p:txBody>
          <a:bodyPr wrap="none" lIns="27432" rIns="27432" tIns="18288" bIns="18288" anchor="t">
            <a:spAutoFit/>
          </a:bodyPr>
          <a:lstStyle/>
          <a:p>
            <a:pPr algn="l">
              <a:defRPr sz="1800" b="1">
                <a:solidFill>
                  <a:srgbClr val="1F2A2E"/>
                </a:solidFill>
                <a:latin typeface="Aptos"/>
              </a:defRPr>
            </a:pPr>
            <a:r>
              <a:t>Implementation</a:t>
            </a:r>
          </a:p>
        </p:txBody>
      </p:sp>
      <p:sp>
        <p:nvSpPr>
          <p:cNvPr id="6" name="TextBox 5"/>
          <p:cNvSpPr txBox="1"/>
          <p:nvPr/>
        </p:nvSpPr>
        <p:spPr>
          <a:xfrm>
            <a:off x="4160520" y="1261872"/>
            <a:ext cx="6766560" cy="438912"/>
          </a:xfrm>
          <a:prstGeom prst="rect">
            <a:avLst/>
          </a:prstGeom>
          <a:noFill/>
        </p:spPr>
        <p:txBody>
          <a:bodyPr wrap="none" lIns="27432" rIns="27432" tIns="18288" bIns="18288" anchor="t">
            <a:spAutoFit/>
          </a:bodyPr>
          <a:lstStyle/>
          <a:p>
            <a:pPr algn="l">
              <a:defRPr sz="1600" b="0">
                <a:solidFill>
                  <a:srgbClr val="5F6D71"/>
                </a:solidFill>
                <a:latin typeface="Aptos"/>
              </a:defRPr>
            </a:pPr>
            <a:r>
              <a:t>synthetic recovery, invariants, numerical stability</a:t>
            </a:r>
          </a:p>
        </p:txBody>
      </p:sp>
      <p:sp>
        <p:nvSpPr>
          <p:cNvPr id="7" name="Oval 6"/>
          <p:cNvSpPr/>
          <p:nvPr/>
        </p:nvSpPr>
        <p:spPr>
          <a:xfrm>
            <a:off x="822960" y="2404872"/>
            <a:ext cx="658368" cy="658368"/>
          </a:xfrm>
          <a:prstGeom prst="ellipse">
            <a:avLst/>
          </a:prstGeom>
          <a:solidFill>
            <a:srgbClr val="00807A"/>
          </a:solidFill>
          <a:ln>
            <a:solidFill>
              <a:srgbClr val="008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569464"/>
            <a:ext cx="402336" cy="228600"/>
          </a:xfrm>
          <a:prstGeom prst="rect">
            <a:avLst/>
          </a:prstGeom>
          <a:noFill/>
        </p:spPr>
        <p:txBody>
          <a:bodyPr wrap="none" lIns="27432" rIns="27432" tIns="18288" bIns="18288" anchor="t">
            <a:spAutoFit/>
          </a:bodyPr>
          <a:lstStyle/>
          <a:p>
            <a:pPr algn="ctr">
              <a:defRPr sz="1500" b="1">
                <a:solidFill>
                  <a:srgbClr val="FFFFFF"/>
                </a:solidFill>
                <a:latin typeface="Aptos"/>
              </a:defRPr>
            </a:pPr>
            <a:r>
              <a:t>2</a:t>
            </a:r>
          </a:p>
        </p:txBody>
      </p:sp>
      <p:sp>
        <p:nvSpPr>
          <p:cNvPr id="9" name="TextBox 8"/>
          <p:cNvSpPr txBox="1"/>
          <p:nvPr/>
        </p:nvSpPr>
        <p:spPr>
          <a:xfrm>
            <a:off x="1828800" y="2432303"/>
            <a:ext cx="2194560" cy="320040"/>
          </a:xfrm>
          <a:prstGeom prst="rect">
            <a:avLst/>
          </a:prstGeom>
          <a:noFill/>
        </p:spPr>
        <p:txBody>
          <a:bodyPr wrap="none" lIns="27432" rIns="27432" tIns="18288" bIns="18288" anchor="t">
            <a:spAutoFit/>
          </a:bodyPr>
          <a:lstStyle/>
          <a:p>
            <a:pPr algn="l">
              <a:defRPr sz="1800" b="1">
                <a:solidFill>
                  <a:srgbClr val="1F2A2E"/>
                </a:solidFill>
                <a:latin typeface="Aptos"/>
              </a:defRPr>
            </a:pPr>
            <a:r>
              <a:t>Predictive</a:t>
            </a:r>
          </a:p>
        </p:txBody>
      </p:sp>
      <p:sp>
        <p:nvSpPr>
          <p:cNvPr id="10" name="TextBox 9"/>
          <p:cNvSpPr txBox="1"/>
          <p:nvPr/>
        </p:nvSpPr>
        <p:spPr>
          <a:xfrm>
            <a:off x="4160520" y="2432303"/>
            <a:ext cx="6766560" cy="438912"/>
          </a:xfrm>
          <a:prstGeom prst="rect">
            <a:avLst/>
          </a:prstGeom>
          <a:noFill/>
        </p:spPr>
        <p:txBody>
          <a:bodyPr wrap="none" lIns="27432" rIns="27432" tIns="18288" bIns="18288" anchor="t">
            <a:spAutoFit/>
          </a:bodyPr>
          <a:lstStyle/>
          <a:p>
            <a:pPr algn="l">
              <a:defRPr sz="1600" b="0">
                <a:solidFill>
                  <a:srgbClr val="5F6D71"/>
                </a:solidFill>
                <a:latin typeface="Aptos"/>
              </a:defRPr>
            </a:pPr>
            <a:r>
              <a:t>held-out likelihood, spikes, trajectories</a:t>
            </a:r>
          </a:p>
        </p:txBody>
      </p:sp>
      <p:sp>
        <p:nvSpPr>
          <p:cNvPr id="11" name="Oval 10"/>
          <p:cNvSpPr/>
          <p:nvPr/>
        </p:nvSpPr>
        <p:spPr>
          <a:xfrm>
            <a:off x="822960" y="3575304"/>
            <a:ext cx="658368" cy="658368"/>
          </a:xfrm>
          <a:prstGeom prst="ellipse">
            <a:avLst/>
          </a:prstGeom>
          <a:solidFill>
            <a:srgbClr val="E07A3B"/>
          </a:solidFill>
          <a:ln>
            <a:solidFill>
              <a:srgbClr val="E07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739896"/>
            <a:ext cx="402336" cy="228600"/>
          </a:xfrm>
          <a:prstGeom prst="rect">
            <a:avLst/>
          </a:prstGeom>
          <a:noFill/>
        </p:spPr>
        <p:txBody>
          <a:bodyPr wrap="none" lIns="27432" rIns="27432" tIns="18288" bIns="18288" anchor="t">
            <a:spAutoFit/>
          </a:bodyPr>
          <a:lstStyle/>
          <a:p>
            <a:pPr algn="ctr">
              <a:defRPr sz="1500" b="1">
                <a:solidFill>
                  <a:srgbClr val="FFFFFF"/>
                </a:solidFill>
                <a:latin typeface="Aptos"/>
              </a:defRPr>
            </a:pPr>
            <a:r>
              <a:t>3</a:t>
            </a:r>
          </a:p>
        </p:txBody>
      </p:sp>
      <p:sp>
        <p:nvSpPr>
          <p:cNvPr id="13" name="TextBox 12"/>
          <p:cNvSpPr txBox="1"/>
          <p:nvPr/>
        </p:nvSpPr>
        <p:spPr>
          <a:xfrm>
            <a:off x="1828800" y="3602736"/>
            <a:ext cx="2194560" cy="320040"/>
          </a:xfrm>
          <a:prstGeom prst="rect">
            <a:avLst/>
          </a:prstGeom>
          <a:noFill/>
        </p:spPr>
        <p:txBody>
          <a:bodyPr wrap="none" lIns="27432" rIns="27432" tIns="18288" bIns="18288" anchor="t">
            <a:spAutoFit/>
          </a:bodyPr>
          <a:lstStyle/>
          <a:p>
            <a:pPr algn="l">
              <a:defRPr sz="1800" b="1">
                <a:solidFill>
                  <a:srgbClr val="1F2A2E"/>
                </a:solidFill>
                <a:latin typeface="Aptos"/>
              </a:defRPr>
            </a:pPr>
            <a:r>
              <a:t>Robustness</a:t>
            </a:r>
          </a:p>
        </p:txBody>
      </p:sp>
      <p:sp>
        <p:nvSpPr>
          <p:cNvPr id="14" name="TextBox 13"/>
          <p:cNvSpPr txBox="1"/>
          <p:nvPr/>
        </p:nvSpPr>
        <p:spPr>
          <a:xfrm>
            <a:off x="4160520" y="3602736"/>
            <a:ext cx="6766560" cy="438912"/>
          </a:xfrm>
          <a:prstGeom prst="rect">
            <a:avLst/>
          </a:prstGeom>
          <a:noFill/>
        </p:spPr>
        <p:txBody>
          <a:bodyPr wrap="none" lIns="27432" rIns="27432" tIns="18288" bIns="18288" anchor="t">
            <a:spAutoFit/>
          </a:bodyPr>
          <a:lstStyle/>
          <a:p>
            <a:pPr algn="l">
              <a:defRPr sz="1600" b="0">
                <a:solidFill>
                  <a:srgbClr val="5F6D71"/>
                </a:solidFill>
                <a:latin typeface="Aptos"/>
              </a:defRPr>
            </a:pPr>
            <a:r>
              <a:t>seeds, hyperparameters, latent dimension</a:t>
            </a:r>
          </a:p>
        </p:txBody>
      </p:sp>
      <p:sp>
        <p:nvSpPr>
          <p:cNvPr id="15" name="Oval 14"/>
          <p:cNvSpPr/>
          <p:nvPr/>
        </p:nvSpPr>
        <p:spPr>
          <a:xfrm>
            <a:off x="822960" y="4745736"/>
            <a:ext cx="658368" cy="658368"/>
          </a:xfrm>
          <a:prstGeom prst="ellipse">
            <a:avLst/>
          </a:prstGeom>
          <a:solidFill>
            <a:srgbClr val="EBBB44"/>
          </a:solidFill>
          <a:ln>
            <a:solidFill>
              <a:srgbClr val="EB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4910327"/>
            <a:ext cx="402336" cy="228600"/>
          </a:xfrm>
          <a:prstGeom prst="rect">
            <a:avLst/>
          </a:prstGeom>
          <a:noFill/>
        </p:spPr>
        <p:txBody>
          <a:bodyPr wrap="none" lIns="27432" rIns="27432" tIns="18288" bIns="18288" anchor="t">
            <a:spAutoFit/>
          </a:bodyPr>
          <a:lstStyle/>
          <a:p>
            <a:pPr algn="ctr">
              <a:defRPr sz="1500" b="1">
                <a:solidFill>
                  <a:srgbClr val="FFFFFF"/>
                </a:solidFill>
                <a:latin typeface="Aptos"/>
              </a:defRPr>
            </a:pPr>
            <a:r>
              <a:t>4</a:t>
            </a:r>
          </a:p>
        </p:txBody>
      </p:sp>
      <p:sp>
        <p:nvSpPr>
          <p:cNvPr id="17" name="TextBox 16"/>
          <p:cNvSpPr txBox="1"/>
          <p:nvPr/>
        </p:nvSpPr>
        <p:spPr>
          <a:xfrm>
            <a:off x="1828800" y="4773168"/>
            <a:ext cx="2194560" cy="320040"/>
          </a:xfrm>
          <a:prstGeom prst="rect">
            <a:avLst/>
          </a:prstGeom>
          <a:noFill/>
        </p:spPr>
        <p:txBody>
          <a:bodyPr wrap="none" lIns="27432" rIns="27432" tIns="18288" bIns="18288" anchor="t">
            <a:spAutoFit/>
          </a:bodyPr>
          <a:lstStyle/>
          <a:p>
            <a:pPr algn="l">
              <a:defRPr sz="1800" b="1">
                <a:solidFill>
                  <a:srgbClr val="1F2A2E"/>
                </a:solidFill>
                <a:latin typeface="Aptos"/>
              </a:defRPr>
            </a:pPr>
            <a:r>
              <a:t>Scientific</a:t>
            </a:r>
          </a:p>
        </p:txBody>
      </p:sp>
      <p:sp>
        <p:nvSpPr>
          <p:cNvPr id="18" name="TextBox 17"/>
          <p:cNvSpPr txBox="1"/>
          <p:nvPr/>
        </p:nvSpPr>
        <p:spPr>
          <a:xfrm>
            <a:off x="4160520" y="4773168"/>
            <a:ext cx="6766560" cy="438912"/>
          </a:xfrm>
          <a:prstGeom prst="rect">
            <a:avLst/>
          </a:prstGeom>
          <a:noFill/>
        </p:spPr>
        <p:txBody>
          <a:bodyPr wrap="none" lIns="27432" rIns="27432" tIns="18288" bIns="18288" anchor="t">
            <a:spAutoFit/>
          </a:bodyPr>
          <a:lstStyle/>
          <a:p>
            <a:pPr algn="l">
              <a:defRPr sz="1600" b="0">
                <a:solidFill>
                  <a:srgbClr val="5F6D71"/>
                </a:solidFill>
                <a:latin typeface="Aptos"/>
              </a:defRPr>
            </a:pPr>
            <a:r>
              <a:t>external variables, perturbations, falsifiable predictions</a:t>
            </a:r>
          </a:p>
        </p:txBody>
      </p:sp>
      <p:sp>
        <p:nvSpPr>
          <p:cNvPr id="19" name="TextBox 18"/>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879395"/>
                </a:solidFill>
                <a:latin typeface="Aptos"/>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94360" y="429768"/>
            <a:ext cx="10972800" cy="594360"/>
          </a:xfrm>
          <a:prstGeom prst="rect">
            <a:avLst/>
          </a:prstGeom>
          <a:noFill/>
        </p:spPr>
        <p:txBody>
          <a:bodyPr wrap="none" lIns="27432" rIns="27432" tIns="18288" bIns="18288" anchor="t">
            <a:spAutoFit/>
          </a:bodyPr>
          <a:lstStyle/>
          <a:p>
            <a:pPr algn="l">
              <a:defRPr sz="2800" b="1">
                <a:solidFill>
                  <a:srgbClr val="FFFFFF"/>
                </a:solidFill>
                <a:latin typeface="Aptos"/>
              </a:defRPr>
            </a:pPr>
            <a:r>
              <a:t>Take-home message</a:t>
            </a:r>
          </a:p>
        </p:txBody>
      </p:sp>
      <p:sp>
        <p:nvSpPr>
          <p:cNvPr id="3" name="TextBox 2"/>
          <p:cNvSpPr txBox="1"/>
          <p:nvPr/>
        </p:nvSpPr>
        <p:spPr>
          <a:xfrm>
            <a:off x="822960" y="1325880"/>
            <a:ext cx="548640" cy="438912"/>
          </a:xfrm>
          <a:prstGeom prst="rect">
            <a:avLst/>
          </a:prstGeom>
          <a:noFill/>
        </p:spPr>
        <p:txBody>
          <a:bodyPr wrap="none" lIns="27432" rIns="27432" tIns="18288" bIns="18288" anchor="t">
            <a:spAutoFit/>
          </a:bodyPr>
          <a:lstStyle/>
          <a:p>
            <a:pPr algn="ctr">
              <a:defRPr sz="2200" b="1">
                <a:solidFill>
                  <a:srgbClr val="EBBB44"/>
                </a:solidFill>
                <a:latin typeface="Aptos"/>
              </a:defRPr>
            </a:pPr>
            <a:r>
              <a:t>1</a:t>
            </a:r>
          </a:p>
        </p:txBody>
      </p:sp>
      <p:sp>
        <p:nvSpPr>
          <p:cNvPr id="4" name="TextBox 3"/>
          <p:cNvSpPr txBox="1"/>
          <p:nvPr/>
        </p:nvSpPr>
        <p:spPr>
          <a:xfrm>
            <a:off x="1600200" y="1325880"/>
            <a:ext cx="9509760" cy="530352"/>
          </a:xfrm>
          <a:prstGeom prst="rect">
            <a:avLst/>
          </a:prstGeom>
          <a:noFill/>
        </p:spPr>
        <p:txBody>
          <a:bodyPr wrap="none" lIns="27432" rIns="27432" tIns="18288" bIns="18288" anchor="t">
            <a:spAutoFit/>
          </a:bodyPr>
          <a:lstStyle/>
          <a:p>
            <a:pPr algn="l">
              <a:defRPr sz="1700" b="0">
                <a:solidFill>
                  <a:srgbClr val="FFFFFF"/>
                </a:solidFill>
                <a:latin typeface="Aptos"/>
              </a:defRPr>
            </a:pPr>
            <a:r>
              <a:t>Inference is the computation that connects a generative hypothesis to data.</a:t>
            </a:r>
          </a:p>
        </p:txBody>
      </p:sp>
      <p:sp>
        <p:nvSpPr>
          <p:cNvPr id="5" name="TextBox 4"/>
          <p:cNvSpPr txBox="1"/>
          <p:nvPr/>
        </p:nvSpPr>
        <p:spPr>
          <a:xfrm>
            <a:off x="822960" y="2404872"/>
            <a:ext cx="548640" cy="438912"/>
          </a:xfrm>
          <a:prstGeom prst="rect">
            <a:avLst/>
          </a:prstGeom>
          <a:noFill/>
        </p:spPr>
        <p:txBody>
          <a:bodyPr wrap="none" lIns="27432" rIns="27432" tIns="18288" bIns="18288" anchor="t">
            <a:spAutoFit/>
          </a:bodyPr>
          <a:lstStyle/>
          <a:p>
            <a:pPr algn="ctr">
              <a:defRPr sz="2200" b="1">
                <a:solidFill>
                  <a:srgbClr val="EBBB44"/>
                </a:solidFill>
                <a:latin typeface="Aptos"/>
              </a:defRPr>
            </a:pPr>
            <a:r>
              <a:t>2</a:t>
            </a:r>
          </a:p>
        </p:txBody>
      </p:sp>
      <p:sp>
        <p:nvSpPr>
          <p:cNvPr id="6" name="TextBox 5"/>
          <p:cNvSpPr txBox="1"/>
          <p:nvPr/>
        </p:nvSpPr>
        <p:spPr>
          <a:xfrm>
            <a:off x="1600200" y="2404872"/>
            <a:ext cx="9509760" cy="530352"/>
          </a:xfrm>
          <a:prstGeom prst="rect">
            <a:avLst/>
          </a:prstGeom>
          <a:noFill/>
        </p:spPr>
        <p:txBody>
          <a:bodyPr wrap="none" lIns="27432" rIns="27432" tIns="18288" bIns="18288" anchor="t">
            <a:spAutoFit/>
          </a:bodyPr>
          <a:lstStyle/>
          <a:p>
            <a:pPr algn="l">
              <a:defRPr sz="1700" b="0">
                <a:solidFill>
                  <a:srgbClr val="FFFFFF"/>
                </a:solidFill>
                <a:latin typeface="Aptos"/>
              </a:defRPr>
            </a:pPr>
            <a:r>
              <a:t>EM, forward-backward, and VAEs share the same posterior-learning logic.</a:t>
            </a:r>
          </a:p>
        </p:txBody>
      </p:sp>
      <p:sp>
        <p:nvSpPr>
          <p:cNvPr id="7" name="TextBox 6"/>
          <p:cNvSpPr txBox="1"/>
          <p:nvPr/>
        </p:nvSpPr>
        <p:spPr>
          <a:xfrm>
            <a:off x="822960" y="3483863"/>
            <a:ext cx="548640" cy="438912"/>
          </a:xfrm>
          <a:prstGeom prst="rect">
            <a:avLst/>
          </a:prstGeom>
          <a:noFill/>
        </p:spPr>
        <p:txBody>
          <a:bodyPr wrap="none" lIns="27432" rIns="27432" tIns="18288" bIns="18288" anchor="t">
            <a:spAutoFit/>
          </a:bodyPr>
          <a:lstStyle/>
          <a:p>
            <a:pPr algn="ctr">
              <a:defRPr sz="2200" b="1">
                <a:solidFill>
                  <a:srgbClr val="EBBB44"/>
                </a:solidFill>
                <a:latin typeface="Aptos"/>
              </a:defRPr>
            </a:pPr>
            <a:r>
              <a:t>3</a:t>
            </a:r>
          </a:p>
        </p:txBody>
      </p:sp>
      <p:sp>
        <p:nvSpPr>
          <p:cNvPr id="8" name="TextBox 7"/>
          <p:cNvSpPr txBox="1"/>
          <p:nvPr/>
        </p:nvSpPr>
        <p:spPr>
          <a:xfrm>
            <a:off x="1600200" y="3483863"/>
            <a:ext cx="9509760" cy="530352"/>
          </a:xfrm>
          <a:prstGeom prst="rect">
            <a:avLst/>
          </a:prstGeom>
          <a:noFill/>
        </p:spPr>
        <p:txBody>
          <a:bodyPr wrap="none" lIns="27432" rIns="27432" tIns="18288" bIns="18288" anchor="t">
            <a:spAutoFit/>
          </a:bodyPr>
          <a:lstStyle/>
          <a:p>
            <a:pPr algn="l">
              <a:defRPr sz="1700" b="0">
                <a:solidFill>
                  <a:srgbClr val="FFFFFF"/>
                </a:solidFill>
                <a:latin typeface="Aptos"/>
              </a:defRPr>
            </a:pPr>
            <a:r>
              <a:t>Temporal structure changes both the algorithm and the scientific meaning of a latent state.</a:t>
            </a:r>
          </a:p>
        </p:txBody>
      </p:sp>
      <p:sp>
        <p:nvSpPr>
          <p:cNvPr id="9" name="TextBox 8"/>
          <p:cNvSpPr txBox="1"/>
          <p:nvPr/>
        </p:nvSpPr>
        <p:spPr>
          <a:xfrm>
            <a:off x="822960" y="4562856"/>
            <a:ext cx="548640" cy="438912"/>
          </a:xfrm>
          <a:prstGeom prst="rect">
            <a:avLst/>
          </a:prstGeom>
          <a:noFill/>
        </p:spPr>
        <p:txBody>
          <a:bodyPr wrap="none" lIns="27432" rIns="27432" tIns="18288" bIns="18288" anchor="t">
            <a:spAutoFit/>
          </a:bodyPr>
          <a:lstStyle/>
          <a:p>
            <a:pPr algn="ctr">
              <a:defRPr sz="2200" b="1">
                <a:solidFill>
                  <a:srgbClr val="EBBB44"/>
                </a:solidFill>
                <a:latin typeface="Aptos"/>
              </a:defRPr>
            </a:pPr>
            <a:r>
              <a:t>4</a:t>
            </a:r>
          </a:p>
        </p:txBody>
      </p:sp>
      <p:sp>
        <p:nvSpPr>
          <p:cNvPr id="10" name="TextBox 9"/>
          <p:cNvSpPr txBox="1"/>
          <p:nvPr/>
        </p:nvSpPr>
        <p:spPr>
          <a:xfrm>
            <a:off x="1600200" y="4562856"/>
            <a:ext cx="9509760" cy="530352"/>
          </a:xfrm>
          <a:prstGeom prst="rect">
            <a:avLst/>
          </a:prstGeom>
          <a:noFill/>
        </p:spPr>
        <p:txBody>
          <a:bodyPr wrap="none" lIns="27432" rIns="27432" tIns="18288" bIns="18288" anchor="t">
            <a:spAutoFit/>
          </a:bodyPr>
          <a:lstStyle/>
          <a:p>
            <a:pPr algn="l">
              <a:defRPr sz="1700" b="1">
                <a:solidFill>
                  <a:srgbClr val="FFFFFF"/>
                </a:solidFill>
                <a:latin typeface="Aptos"/>
              </a:defRPr>
            </a:pPr>
            <a:r>
              <a:t>Interpretability comes from constrained assumptions plus validation, not from low dimension alone.</a:t>
            </a:r>
          </a:p>
        </p:txBody>
      </p:sp>
      <p:sp>
        <p:nvSpPr>
          <p:cNvPr id="11" name="TextBox 10"/>
          <p:cNvSpPr txBox="1"/>
          <p:nvPr/>
        </p:nvSpPr>
        <p:spPr>
          <a:xfrm>
            <a:off x="822960" y="5989320"/>
            <a:ext cx="4754880" cy="320040"/>
          </a:xfrm>
          <a:prstGeom prst="rect">
            <a:avLst/>
          </a:prstGeom>
          <a:noFill/>
        </p:spPr>
        <p:txBody>
          <a:bodyPr wrap="none" lIns="27432" rIns="27432" tIns="18288" bIns="18288" anchor="t">
            <a:spAutoFit/>
          </a:bodyPr>
          <a:lstStyle/>
          <a:p>
            <a:pPr algn="l">
              <a:defRPr sz="1300" b="1">
                <a:solidFill>
                  <a:srgbClr val="ADBEBF"/>
                </a:solidFill>
                <a:latin typeface="Aptos"/>
              </a:defRPr>
            </a:pPr>
            <a:r>
              <a:t>Variational Neural Inference</a:t>
            </a:r>
          </a:p>
        </p:txBody>
      </p:sp>
      <p:sp>
        <p:nvSpPr>
          <p:cNvPr id="12" name="TextBox 11"/>
          <p:cNvSpPr txBox="1"/>
          <p:nvPr/>
        </p:nvSpPr>
        <p:spPr>
          <a:xfrm>
            <a:off x="612648" y="6510528"/>
            <a:ext cx="9966960" cy="164592"/>
          </a:xfrm>
          <a:prstGeom prst="rect">
            <a:avLst/>
          </a:prstGeom>
          <a:noFill/>
        </p:spPr>
        <p:txBody>
          <a:bodyPr wrap="none" lIns="27432" rIns="27432" tIns="18288" bIns="18288" anchor="t">
            <a:spAutoFit/>
          </a:bodyPr>
          <a:lstStyle/>
          <a:p>
            <a:pPr algn="l">
              <a:defRPr sz="800" b="0">
                <a:solidFill>
                  <a:srgbClr val="BAC4C5"/>
                </a:solidFill>
                <a:latin typeface="Aptos"/>
              </a:defRPr>
            </a:pPr>
            <a:r>
              <a:t>Tutorial notebooks and references are available in this repository.</a:t>
            </a:r>
          </a:p>
        </p:txBody>
      </p:sp>
      <p:sp>
        <p:nvSpPr>
          <p:cNvPr id="13" name="TextBox 12"/>
          <p:cNvSpPr txBox="1"/>
          <p:nvPr/>
        </p:nvSpPr>
        <p:spPr>
          <a:xfrm>
            <a:off x="10927080" y="6446520"/>
            <a:ext cx="640080" cy="228600"/>
          </a:xfrm>
          <a:prstGeom prst="rect">
            <a:avLst/>
          </a:prstGeom>
          <a:noFill/>
        </p:spPr>
        <p:txBody>
          <a:bodyPr wrap="none" lIns="27432" rIns="27432" tIns="18288" bIns="18288" anchor="t">
            <a:spAutoFit/>
          </a:bodyPr>
          <a:lstStyle/>
          <a:p>
            <a:pPr algn="r">
              <a:defRPr sz="900" b="1">
                <a:solidFill>
                  <a:srgbClr val="BAC4C5"/>
                </a:solidFill>
                <a:latin typeface="Aptos"/>
              </a:defRPr>
            </a:pPr>
            <a: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